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9144000"/>
  <p:embeddedFontLst>
    <p:embeddedFont>
      <p:font typeface="Google Sans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hGSWJzm7xiHY8k53+gH+RzrN752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GoogleSans-bold.fntdata"/><Relationship Id="rId16" Type="http://schemas.openxmlformats.org/officeDocument/2006/relationships/font" Target="fonts/GoogleSans-regular.fntdata"/><Relationship Id="rId5" Type="http://schemas.openxmlformats.org/officeDocument/2006/relationships/slide" Target="slides/slide1.xml"/><Relationship Id="rId19" Type="http://schemas.openxmlformats.org/officeDocument/2006/relationships/font" Target="fonts/GoogleSans-boldItalic.fntdata"/><Relationship Id="rId6" Type="http://schemas.openxmlformats.org/officeDocument/2006/relationships/slide" Target="slides/slide2.xml"/><Relationship Id="rId18" Type="http://schemas.openxmlformats.org/officeDocument/2006/relationships/font" Target="fonts/GoogleSans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7f594cd50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7f594cd5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22783" y="3498572"/>
            <a:ext cx="9025003" cy="3021497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>
            <p:ph type="ctrTitle"/>
          </p:nvPr>
        </p:nvSpPr>
        <p:spPr>
          <a:xfrm>
            <a:off x="304800" y="0"/>
            <a:ext cx="11317357" cy="34289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-US" sz="2800"/>
              <a:t>DEPARTMENT OF ELECTRONICS &amp; COMMUNICATION ENGINEERING</a:t>
            </a:r>
            <a:br>
              <a:rPr b="1" lang="en-US" sz="2800"/>
            </a:br>
            <a:r>
              <a:rPr b="1" lang="en-US" sz="2800"/>
              <a:t>ST JOSEPH ENGINEERING COLLEGE VAMANJOOR MANGALURU-575028</a:t>
            </a:r>
            <a:br>
              <a:rPr b="1" lang="en-US" sz="2800"/>
            </a:br>
            <a:br>
              <a:rPr lang="en-US" sz="2000"/>
            </a:br>
            <a:r>
              <a:rPr b="1" lang="en-US" sz="2400"/>
              <a:t>Course Title: Digital Design using HDL </a:t>
            </a:r>
            <a:br>
              <a:rPr b="1" lang="en-US" sz="2400"/>
            </a:br>
            <a:r>
              <a:rPr b="1" lang="en-US" sz="2400"/>
              <a:t>Course Code: 22ECE42 </a:t>
            </a:r>
            <a:br>
              <a:rPr b="1" lang="en-US" sz="2400"/>
            </a:br>
            <a:r>
              <a:rPr b="1" lang="en-US" sz="2400"/>
              <a:t>Semester: Fourth Semester </a:t>
            </a:r>
            <a:br>
              <a:rPr b="1" lang="en-US" sz="2400"/>
            </a:br>
            <a:br>
              <a:rPr b="1" lang="en-US" sz="2400"/>
            </a:br>
            <a:r>
              <a:rPr b="1" lang="en-US" sz="2400"/>
              <a:t>PBL Secondary Research Report </a:t>
            </a:r>
            <a:br>
              <a:rPr b="1" lang="en-US" sz="2400"/>
            </a:br>
            <a:r>
              <a:rPr b="1" lang="en-US" sz="2400"/>
              <a:t>FPGA Based-Advanced Encryption Standard (AES)</a:t>
            </a:r>
            <a:endParaRPr b="1"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/>
              <a:t>What is AES?</a:t>
            </a:r>
            <a:br>
              <a:rPr lang="en-US"/>
            </a:br>
            <a:r>
              <a:rPr lang="en-US" sz="2200"/>
              <a:t>Advanced Encryption Standard </a:t>
            </a:r>
            <a:r>
              <a:rPr b="1" lang="en-US" sz="2200"/>
              <a:t>AES is a method used to protect data by converting normal readable information into coded information using a secret key, so only authorized users can read it.</a:t>
            </a:r>
            <a:endParaRPr/>
          </a:p>
        </p:txBody>
      </p:sp>
      <p:sp>
        <p:nvSpPr>
          <p:cNvPr id="91" name="Google Shape;91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Plaintext to statematrix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Core models</a:t>
            </a:r>
            <a:endParaRPr/>
          </a:p>
        </p:txBody>
      </p:sp>
      <p:sp>
        <p:nvSpPr>
          <p:cNvPr id="97" name="Google Shape;97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Subbytes</a:t>
            </a:r>
            <a:endParaRPr/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e7f594cd50_0_0"/>
          <p:cNvSpPr txBox="1"/>
          <p:nvPr>
            <p:ph type="title"/>
          </p:nvPr>
        </p:nvSpPr>
        <p:spPr>
          <a:xfrm>
            <a:off x="838200" y="365125"/>
            <a:ext cx="10515600" cy="7764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2286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/>
              <a:t>SHIFTROWS</a:t>
            </a:r>
            <a:endParaRPr/>
          </a:p>
        </p:txBody>
      </p:sp>
      <p:sp>
        <p:nvSpPr>
          <p:cNvPr id="103" name="Google Shape;103;g3e7f594cd50_0_0"/>
          <p:cNvSpPr txBox="1"/>
          <p:nvPr>
            <p:ph idx="1" type="body"/>
          </p:nvPr>
        </p:nvSpPr>
        <p:spPr>
          <a:xfrm>
            <a:off x="838200" y="1346950"/>
            <a:ext cx="10515600" cy="483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In a 128-bit AES system, the data is treated as a $4 \times 4$ matrix of bytes. Each byte is 8 bits, totaling $16 \times 8 = 128$ bits.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The mapping of the 128-bit input () to the matrix in your code follows this pattern:</a:t>
            </a:r>
            <a:r>
              <a:rPr lang="en-US" sz="1500">
                <a:solidFill>
                  <a:srgbClr val="188038"/>
                </a:solidFill>
                <a:latin typeface="Arial"/>
                <a:ea typeface="Arial"/>
                <a:cs typeface="Arial"/>
                <a:sym typeface="Arial"/>
              </a:rPr>
              <a:t>data_in</a:t>
            </a:r>
            <a:endParaRPr sz="1500">
              <a:solidFill>
                <a:srgbClr val="18803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Row 0: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$b_0, b_4, b_8, b_{12}$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Row 1: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$b_1, b_5, b_9, b_{13}$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Row 2: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$b_2, b_6, b_{10}, b_{14}$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Row 3: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$b_3, b_7, b_{11}, b_{15}$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The goal of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ShiftRows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is to cyclically shift the last three rows of the state matrix to the left by different offsets.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700"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AutoNum type="arabicPeriod"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Row 0: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No shift.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Row 1: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Shift left by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1 byte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Row 2: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Shift left by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2 bytes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Row 3: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Shift left by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3 bytes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 txBox="1"/>
          <p:nvPr>
            <p:ph type="title"/>
          </p:nvPr>
        </p:nvSpPr>
        <p:spPr>
          <a:xfrm>
            <a:off x="715048" y="-3367"/>
            <a:ext cx="10515600" cy="817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Gf multiplier</a:t>
            </a:r>
            <a:endParaRPr/>
          </a:p>
        </p:txBody>
      </p:sp>
      <p:sp>
        <p:nvSpPr>
          <p:cNvPr id="109" name="Google Shape;109;p4"/>
          <p:cNvSpPr txBox="1"/>
          <p:nvPr>
            <p:ph idx="1" type="body"/>
          </p:nvPr>
        </p:nvSpPr>
        <p:spPr>
          <a:xfrm>
            <a:off x="543791" y="973185"/>
            <a:ext cx="10684934" cy="5844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In GF arithmetic: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numbers are treated like polynomials 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addition is XOR 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overflow is reduced using a special polynomial 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So multiplication behaves differently.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----------------------------------------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Flow: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Input a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   ↓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Check sel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   ↓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00 → multiply by 1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01 → multiply by 2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10 → multiply by 3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  ↓</a:t>
            </a:r>
            <a:endParaRPr sz="11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Output result</a:t>
            </a:r>
            <a:endParaRPr sz="11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--------------------------------------------------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What if the msb is 1?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AES uses a fixed polunomial reduction modulo which is: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x^8 + x^4 + x^3 + x + 1</a:t>
            </a:r>
            <a:endParaRPr sz="11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So when overflow happens, it is shifted and xor'd with 8'h1b.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Gf mixcoloumns single</a:t>
            </a:r>
            <a:endParaRPr/>
          </a:p>
        </p:txBody>
      </p:sp>
      <p:sp>
        <p:nvSpPr>
          <p:cNvPr id="115" name="Google Shape;1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In this operation, a single coloumn is taken and the follow equations are performed to get a new coloumn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assign b0 = mul2(a0) ^ mul3(a1) ^ a2 ^ a3;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assign b1 = a0 ^ mul2(a1) ^ mul3(a2) ^ a3;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assign b2 = a0 ^ a1 ^ mul2(a2) ^ mul3(a3);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assign b3 = mul3(a0) ^ a1 ^ a2 ^ mul2(a3);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mixcoloumn</a:t>
            </a:r>
            <a:endParaRPr/>
          </a:p>
        </p:txBody>
      </p:sp>
      <p:sp>
        <p:nvSpPr>
          <p:cNvPr id="121" name="Google Shape;121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In Advanced Encryption Standard, MixColumns is the step that mixes the bytes inside each column of the AES state matrix to create strong diffusion</a:t>
            </a:r>
            <a:endParaRPr/>
          </a:p>
        </p:txBody>
      </p:sp>
      <p:pic>
        <p:nvPicPr>
          <p:cNvPr id="122" name="Google Shape;122;p6" title="Screenshot 2026-05-12 14560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84250" y="3534550"/>
            <a:ext cx="5023502" cy="1934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Round Key Expansion</a:t>
            </a:r>
            <a:endParaRPr/>
          </a:p>
        </p:txBody>
      </p:sp>
      <p:sp>
        <p:nvSpPr>
          <p:cNvPr id="128" name="Google Shape;128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So in the beginning a master key is exored with the plain text, then the scrambled text is produced. All in 128 bits for round 0.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Then for all the remaining rounds, round key is derived from the master key.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In round 1-9 there is subybtes, shift rows, mix columns, add round key.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 In round 1-9, each round produces a round key that is exored with the curreent state.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 Then in round 10 again there is all this except mix columns. The output of the last exor is my cipher text.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The formula is: state(out)= state(in)^roundkey</a:t>
            </a:r>
            <a:endParaRPr sz="24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Formula for key expansion: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Rotword([b0, B1, B2, B3]) = [B1, B2, B3, B0]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Temp = rotword(w3) ^ rcon[round]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"/>
          <p:cNvSpPr txBox="1"/>
          <p:nvPr>
            <p:ph type="title"/>
          </p:nvPr>
        </p:nvSpPr>
        <p:spPr>
          <a:xfrm>
            <a:off x="149087" y="371751"/>
            <a:ext cx="10515600" cy="589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/>
              <a:t>ROUND KEY EXPANSION</a:t>
            </a:r>
            <a:endParaRPr/>
          </a:p>
        </p:txBody>
      </p:sp>
      <p:sp>
        <p:nvSpPr>
          <p:cNvPr id="134" name="Google Shape;134;p8"/>
          <p:cNvSpPr/>
          <p:nvPr/>
        </p:nvSpPr>
        <p:spPr>
          <a:xfrm>
            <a:off x="5943600" y="32766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 txBox="1"/>
          <p:nvPr>
            <p:ph idx="1" type="body"/>
          </p:nvPr>
        </p:nvSpPr>
        <p:spPr>
          <a:xfrm>
            <a:off x="0" y="854279"/>
            <a:ext cx="12192001" cy="62940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0">
            <a:spAutoFit/>
          </a:bodyPr>
          <a:lstStyle/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AutoNum type="arabicPeriod"/>
            </a:pPr>
            <a:r>
              <a:rPr b="1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How the Code Works 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AutoNum type="arabicPeriod"/>
            </a:pP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This Verilog code implements a hardware-based </a:t>
            </a:r>
            <a:r>
              <a:rPr b="1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 Expansion</a:t>
            </a: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 module, which generates the next 128-bit round key from a previous key. </a:t>
            </a:r>
            <a:endParaRPr b="0" i="0" sz="2000" u="none" cap="none" strike="noStrike">
              <a:solidFill>
                <a:schemeClr val="dk1"/>
              </a:solidFill>
            </a:endParaRPr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b="1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Inputs and Outputs</a:t>
            </a: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: The module takes a 128-bit key_in and a 4-bit round number to produce a 128-bit key_out.</a:t>
            </a:r>
            <a:endParaRPr/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b="1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Word Splitting</a:t>
            </a: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: The 128-bit input is split into four 32-bit words (w_0, w_1, w_2, w_3) using assign statements.</a:t>
            </a:r>
            <a:endParaRPr/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b="1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RotWord Function</a:t>
            </a: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: This cyclically rotates the 32-bit word w_3 to the left by 8 bits (1 byte) using the concatenation operator {w[23:0], w[31:24]}.</a:t>
            </a:r>
            <a:endParaRPr/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b="1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Rcon Function</a:t>
            </a: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: A lookup table (case statement) returns a specific 8-bit hex value for each round (e.g., 8'h01 for round 1, 8'h02 for round 2). This eliminates symmetry in the keys. </a:t>
            </a:r>
            <a:endParaRPr/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b="1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Transformation Flow</a:t>
            </a: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:</a:t>
            </a:r>
            <a:endParaRPr/>
          </a:p>
          <a:p>
            <a:pPr indent="-1143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</a:pPr>
            <a:r>
              <a:rPr b="1" lang="en-US" sz="1800"/>
              <a:t>reg [31:0] temp;</a:t>
            </a:r>
            <a:r>
              <a:rPr lang="en-US" sz="1800"/>
              <a:t> </a:t>
            </a:r>
            <a:r>
              <a:rPr lang="en-US" sz="2000"/>
              <a:t>A temporary register used to hold intermediate calculations for the transformation.</a:t>
            </a:r>
            <a:endParaRPr b="0" i="0" sz="20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12700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AutoNum type="arabicPeriod"/>
            </a:pP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temp = rot_word(w3) rotates the last word.</a:t>
            </a:r>
            <a:endParaRPr/>
          </a:p>
          <a:p>
            <a:pPr indent="-12700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AutoNum type="arabicPeriod"/>
            </a:pP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temp = temp ^ {rcon_val, 24'h0} performs a bitwise XOR between the rotated word and the round constant.</a:t>
            </a:r>
            <a:endParaRPr/>
          </a:p>
          <a:p>
            <a:pPr indent="-12700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AutoNum type="arabicPeriod"/>
            </a:pPr>
            <a:r>
              <a:rPr b="1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 Generation</a:t>
            </a:r>
            <a:r>
              <a:rPr b="0"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: The new words are created by XORing the previous words with the transformed temporary word in a "chain" fashion:</a:t>
            </a:r>
            <a:endParaRPr/>
          </a:p>
          <a:p>
            <a:pPr indent="-12700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b="0" i="0" lang="en-US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key_out[127:96] = w0 ^ temp.</a:t>
            </a:r>
            <a:endParaRPr/>
          </a:p>
          <a:p>
            <a:pPr indent="-12700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b="0" i="0" lang="en-US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key_out[95:64] = w1 ^ key_out[127:96].</a:t>
            </a:r>
            <a:endParaRPr/>
          </a:p>
          <a:p>
            <a:pPr indent="-12700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b="0" i="0" lang="en-US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key_out[63:32] = w2 ^ key_out[95:64].</a:t>
            </a:r>
            <a:endParaRPr/>
          </a:p>
          <a:p>
            <a:pPr indent="-12700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b="0" i="0" lang="en-US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key_out[31:0] = w3 ^ key_out[63:32]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"/>
          <p:cNvSpPr txBox="1"/>
          <p:nvPr>
            <p:ph type="title"/>
          </p:nvPr>
        </p:nvSpPr>
        <p:spPr>
          <a:xfrm>
            <a:off x="838200" y="365126"/>
            <a:ext cx="10515600" cy="436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/>
              <a:t>Architecture </a:t>
            </a:r>
            <a:endParaRPr/>
          </a:p>
        </p:txBody>
      </p:sp>
      <p:sp>
        <p:nvSpPr>
          <p:cNvPr id="141" name="Google Shape;141;p9"/>
          <p:cNvSpPr txBox="1"/>
          <p:nvPr>
            <p:ph idx="1" type="body"/>
          </p:nvPr>
        </p:nvSpPr>
        <p:spPr>
          <a:xfrm>
            <a:off x="-1576" y="804587"/>
            <a:ext cx="7013741" cy="60605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1. Control &amp; Scheduling</a:t>
            </a:r>
            <a:endParaRPr b="1" sz="16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AES Control</a:t>
            </a:r>
            <a:r>
              <a:rPr lang="en-US" sz="1600"/>
              <a:t>: Manages the round progression and column selection.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Key Scheduling</a:t>
            </a:r>
            <a:r>
              <a:rPr lang="en-US" sz="1600"/>
              <a:t>: Expands the initial 128-bit key into unique round keys for every column and round.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Inverse MixColumns</a:t>
            </a:r>
            <a:r>
              <a:rPr lang="en-US" sz="1600"/>
              <a:t>: Modifies the keys during decryption to match inverse operations.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2. Data Handling &amp; Logic</a:t>
            </a:r>
            <a:endParaRPr sz="16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Initial Add Round Key</a:t>
            </a:r>
            <a:r>
              <a:rPr lang="en-US" sz="1600"/>
              <a:t>: XORs the plaintext with a "Whitening Key" before the main rounds start.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State Registers</a:t>
            </a:r>
            <a:r>
              <a:rPr lang="en-US" sz="1600"/>
              <a:t>: Store the 128-bit block, allowing the system to select one 32-bit column at a time.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Common Equation Block</a:t>
            </a:r>
            <a:r>
              <a:rPr lang="en-US" sz="1600"/>
              <a:t>: A unified module containing the </a:t>
            </a:r>
            <a:r>
              <a:rPr b="1" lang="en-US" sz="1600"/>
              <a:t>Leaf Cells</a:t>
            </a:r>
            <a:r>
              <a:rPr lang="en-US" sz="1600"/>
              <a:t> (S-Box and Galois Multiplier) to transform the data.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3. The Execution Steps</a:t>
            </a:r>
            <a:endParaRPr sz="16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Selection</a:t>
            </a:r>
            <a:r>
              <a:rPr lang="en-US" sz="1600"/>
              <a:t>: The controller picks a 32-bit column from the state registers.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Processing</a:t>
            </a:r>
            <a:r>
              <a:rPr lang="en-US" sz="1600"/>
              <a:t>: The column passes through the substitution and mixing layers.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Key Application</a:t>
            </a:r>
            <a:r>
              <a:rPr lang="en-US" sz="1600"/>
              <a:t>: The transformed data is XORed with the corresponding round key.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b="1" lang="en-US" sz="1600"/>
              <a:t>Feedback</a:t>
            </a:r>
            <a:r>
              <a:rPr lang="en-US" sz="1600"/>
              <a:t>: The result is fed back into the registers, and the process repeats for all columns and rounds until encryption is complete.</a:t>
            </a:r>
            <a:endParaRPr/>
          </a:p>
          <a:p>
            <a:pPr indent="-127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/>
            </a:r>
            <a:endParaRPr sz="1600"/>
          </a:p>
        </p:txBody>
      </p:sp>
      <p:pic>
        <p:nvPicPr>
          <p:cNvPr descr="A diagram of a computer program&#10;&#10;AI-generated content may be incorrect." id="142" name="Google Shape;14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14884" y="800485"/>
            <a:ext cx="4979303" cy="60655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Planning:</a:t>
            </a:r>
            <a:endParaRPr/>
          </a:p>
        </p:txBody>
      </p:sp>
      <p:sp>
        <p:nvSpPr>
          <p:cNvPr id="148" name="Google Shape;148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40000" lnSpcReduction="2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Alphin David k: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Mixcoloumns, mixcoloumns single, leaf cell GF  multiplier, invmixcol, invmixcol single , block diagram, state matrix, 1 paper(anniruden bin kasmin), README(updates)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Ashton Rego: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Sbox,inversesbox,subbytes, inversesubbytes throughput and resource usage of papers,1 paper(Arulmurugan Azhaganantham)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Cyrus herold fernandes: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Shiftrows,inverse shiftrows,sbox leaf cellsimulation, 1 paper(R. Parthasarathy)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Jawahar lawrence rodrigues: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Leaf cell Addroundkey(EXOR), keyexpansion, README(update),1 paper(SALMAN AHMED)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Everyone has uploaded their respective codes and testbenches along with simulation pictures present in github.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US"/>
              <a:t>Github: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https://github.com/Alphin12345/AES_TP</a:t>
            </a:r>
            <a:endParaRPr/>
          </a:p>
          <a:p>
            <a:pPr indent="-15748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2026-05-12T04:17:33Z</dcterms:created>
  <dc:creator>Jawahar Rodrigues</dc:creator>
</cp:coreProperties>
</file>