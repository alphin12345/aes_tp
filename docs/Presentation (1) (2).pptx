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1" r:id="rId5"/>
    <p:sldId id="262" r:id="rId6"/>
    <p:sldId id="265" r:id="rId7"/>
    <p:sldId id="259" r:id="rId8"/>
    <p:sldId id="257" r:id="rId9"/>
    <p:sldId id="260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A26C0-6D8E-24AC-11B0-286EA629E240}" v="349" dt="2026-05-12T06:54:14.847"/>
    <p1510:client id="{0FF72A74-9440-6A55-2C71-948BABCDE1D7}" v="2" dt="2026-05-12T08:00:48.901"/>
    <p1510:client id="{33C128BE-EE42-4C21-89C9-28FF27C94104}" v="8" dt="2026-05-12T07:55:37.457"/>
    <p1510:client id="{40B17984-3359-3170-7EB0-4993565F2BEF}" v="27" dt="2026-05-12T07:59:36.440"/>
    <p1510:client id="{5F56178E-4A1F-7804-20DC-E5A4A0FDE63A}" v="518" dt="2026-05-12T08:58:28.093"/>
    <p1510:client id="{B4DEC367-C62F-4BB1-998D-7D1BF227A9D0}" v="50" dt="2026-05-12T06:39:52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65FE-AF2C-2B6A-F0F9-11B36903D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376E4-7483-8C9A-DA8E-E29973137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97EE-2AE9-8135-051A-5629ED3C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BD15-1202-F367-27CD-0A4A97B6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3F52F-52E5-3329-50DA-51E8A02E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28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41FA-E316-CF75-FC44-2D86A465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D39C-CB17-8C07-D647-B27AA05B0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B4AD0-6884-4E06-FC07-5847C25E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07F5D-96F9-D185-91D9-47E3B898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9058C-7770-A193-BDB8-20F1F74C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0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E130-49CE-0231-E884-77DDD7D5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7EE86-122C-8B04-965D-214D34FB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1020-1751-4E6C-0AA3-6A57E2E2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69109-8F3A-433E-BDD1-69FDEA02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15105-267F-0D3A-FCE6-8F9F8E41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36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BE65-1423-5C65-AD9F-0838EA84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12B3-81CA-CADF-5A22-4DF69686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B52DB-3B5C-B3ED-1975-06482E8EC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31DD0-C810-F7F1-1DCC-ACDA9B27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C387D-23A9-7992-A093-095CFD5C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8FBEB-A87E-E1D6-01DD-2A26E2AA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72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D54A-D28D-1C00-EADC-FB656B54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5E755-AC94-C166-35D4-DC46273CF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D24B5-42DB-08DB-0ED7-31DFB74F4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7D00-EC83-CF10-9602-C1C012117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09930-9CD9-EA07-E675-3D4FD6321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42508-9408-FF56-2898-B3EAF838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D9D0E-351E-360C-A70F-AA92D6CC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25883-A015-E806-C094-87661C0D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69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089C-8EA1-31B6-7124-44885B78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12E35-631C-B4E4-D86B-30B14586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80E84-13B1-FE8B-1DDB-8A5D2065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533D5-D848-03A8-2AA0-BB24D6EA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4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996F0-A3D5-7231-C466-A43C770BF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74A60-23FC-0E11-60A0-DE80271CE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1EBD6-4AF6-FDD4-29F8-E38DCE1A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43FF-78E3-B17D-A0F7-CCD79A04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437C-81B4-5197-3576-96FB980C7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533B6-49AC-C09C-CBD2-E93456421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CAA20-3506-06C2-6D7C-157A85F6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307CF-A518-C6B7-66B3-9079E2BA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FC64A-CBA8-4110-09C5-8BBDC7D8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89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EE6B-8D36-9399-8018-317FBD8D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05999-B75A-7816-3D4C-95F5CE29E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84DD0-9609-E8EF-A982-0F9913CFE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B1CB4-5E92-E5EF-A48B-5FF2E63F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47C1E-9F39-91EF-6686-7D6F2085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F0436-6CB5-5302-FFCE-04CAED80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0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3102-DEEF-A2CD-0D9E-9EC36C16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79269-ADFA-0467-9AD3-73058D8D8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D7AFE-4BDA-FEC9-77FA-76C08036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2C378-A876-57B2-872E-0E0B48531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D98F-4706-A9DC-4DE1-1E353BE2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42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004DF-D124-A71A-5EB3-5CBD5BD75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593BA-23EE-55BB-B60C-A9DB9FFD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EE94E-B0A5-567C-393D-5B7AD892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F27B8-4EF6-43A7-B194-60CBD39E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E4F34-5141-700A-A0A4-76BDD12D6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25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9A062-5C4F-AB22-8C90-8E48ED9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62AB9-D425-2C86-F71E-229A353A9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0B5D6-5608-BC96-099F-CC1E4E94C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6F5A7-9D15-E586-8803-21C56F0B5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B2D0F-F383-C7FC-3CC5-D9D901209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9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6AC3F3-3592-151B-5C30-B01CAB99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83" y="3498572"/>
            <a:ext cx="9025003" cy="302149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BE6F5A8-B28D-0E47-144E-B9971CCCA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0"/>
            <a:ext cx="11317357" cy="3428999"/>
          </a:xfrm>
        </p:spPr>
        <p:txBody>
          <a:bodyPr>
            <a:noAutofit/>
          </a:bodyPr>
          <a:lstStyle/>
          <a:p>
            <a:r>
              <a:rPr lang="en-US" sz="2800" b="1"/>
              <a:t>DEPARTMENT OF ELECTRONICS &amp; COMMUNICATION ENGINEERING</a:t>
            </a:r>
            <a:br>
              <a:rPr lang="en-US" sz="2800" b="1"/>
            </a:br>
            <a:r>
              <a:rPr lang="en-US" sz="2800" b="1"/>
              <a:t>ST JOSEPH ENGINEERING COLLEGE VAMANJOOR MANGALURU-575028</a:t>
            </a:r>
            <a:br>
              <a:rPr lang="en-US" sz="2800" b="1"/>
            </a:br>
            <a:br>
              <a:rPr lang="en-US" sz="2000"/>
            </a:br>
            <a:r>
              <a:rPr lang="en-US" sz="2400" b="1"/>
              <a:t>Course Title: Digital Design using HDL </a:t>
            </a:r>
            <a:br>
              <a:rPr lang="en-US" sz="2400" b="1"/>
            </a:br>
            <a:r>
              <a:rPr lang="en-US" sz="2400" b="1"/>
              <a:t>Course Code: 22ECE42 </a:t>
            </a:r>
            <a:br>
              <a:rPr lang="en-US" sz="2400" b="1"/>
            </a:br>
            <a:r>
              <a:rPr lang="en-US" sz="2400" b="1"/>
              <a:t>Semester: Fourth Semester </a:t>
            </a:r>
            <a:br>
              <a:rPr lang="en-US" sz="2400" b="1"/>
            </a:br>
            <a:br>
              <a:rPr lang="en-US" sz="2400" b="1"/>
            </a:br>
            <a:r>
              <a:rPr lang="en-US" sz="2400" b="1"/>
              <a:t>PBL Secondary Research Report </a:t>
            </a:r>
            <a:br>
              <a:rPr lang="en-US" sz="2400" b="1"/>
            </a:br>
            <a:r>
              <a:rPr lang="en-US" sz="2400" b="1"/>
              <a:t>FPGA Based-Advanced Encryption Standard (AES)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48904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CAD9-4FBB-EEE2-E2F2-A4D436E5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What is AES?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875A-F6C4-AEDD-9242-77544D81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Plaintext to </a:t>
            </a:r>
            <a:r>
              <a:rPr lang="en-US" dirty="0" err="1">
                <a:ea typeface="Calibri"/>
                <a:cs typeface="Calibri"/>
              </a:rPr>
              <a:t>statematrix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04362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A63AA-4856-140C-7869-972B607C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Core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8C895-EFDB-B8AB-7813-CE0E8B0AE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Calibri"/>
                <a:cs typeface="Calibri"/>
              </a:rPr>
              <a:t>Subbytes</a:t>
            </a:r>
            <a:r>
              <a:rPr lang="en-US" dirty="0">
                <a:ea typeface="Calibri"/>
                <a:cs typeface="Calibri"/>
              </a:rPr>
              <a:t>/inv</a:t>
            </a:r>
          </a:p>
          <a:p>
            <a:r>
              <a:rPr lang="en-US">
                <a:ea typeface="Calibri"/>
                <a:cs typeface="Calibri"/>
              </a:rPr>
              <a:t>Shiftorws/inv</a:t>
            </a:r>
            <a:endParaRPr lang="en-US" dirty="0" err="1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515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B5E5-6A10-82DF-E99A-E913E5040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48" y="-3367"/>
            <a:ext cx="10515600" cy="817563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Gf multiplier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3534-5973-4F85-6734-8D65EAE2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91" y="973185"/>
            <a:ext cx="10684934" cy="58445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100">
                <a:ea typeface="+mn-lt"/>
                <a:cs typeface="+mn-lt"/>
              </a:rPr>
              <a:t>In GF arithmetic:</a:t>
            </a:r>
            <a:endParaRPr lang="en-US" sz="11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numbers are treated like polynomials 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addition is XOR 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overflow is reduced using a special polynomial 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 err="1">
                <a:ea typeface="+mn-lt"/>
                <a:cs typeface="+mn-lt"/>
              </a:rPr>
              <a:t>So</a:t>
            </a:r>
            <a:r>
              <a:rPr lang="en-US" sz="1100">
                <a:ea typeface="+mn-lt"/>
                <a:cs typeface="+mn-lt"/>
              </a:rPr>
              <a:t> multiplication behaves differently.</a:t>
            </a:r>
          </a:p>
          <a:p>
            <a:r>
              <a:rPr lang="en-US" sz="1100">
                <a:ea typeface="+mn-lt"/>
                <a:cs typeface="+mn-lt"/>
              </a:rPr>
              <a:t>----------------------------------------</a:t>
            </a:r>
          </a:p>
          <a:p>
            <a:r>
              <a:rPr lang="en-US" sz="1100">
                <a:ea typeface="+mn-lt"/>
                <a:cs typeface="+mn-lt"/>
              </a:rPr>
              <a:t>Flow:</a:t>
            </a: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Input a</a:t>
            </a:r>
            <a:endParaRPr lang="en-US" sz="11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   ↓</a:t>
            </a: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Check </a:t>
            </a:r>
            <a:r>
              <a:rPr lang="en-US" sz="1100" err="1">
                <a:ea typeface="+mn-lt"/>
                <a:cs typeface="+mn-lt"/>
              </a:rPr>
              <a:t>sel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   ↓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00 → multiply by 1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01 → multiply by 2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10 → multiply by 3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  ↓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Output result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>
                <a:ea typeface="Calibri"/>
                <a:cs typeface="Calibri"/>
              </a:rPr>
              <a:t>--------------------------------------------------</a:t>
            </a:r>
          </a:p>
          <a:p>
            <a:r>
              <a:rPr lang="en-US" sz="1100">
                <a:ea typeface="Calibri"/>
                <a:cs typeface="Calibri"/>
              </a:rPr>
              <a:t>What if the </a:t>
            </a:r>
            <a:r>
              <a:rPr lang="en-US" sz="1100" err="1">
                <a:ea typeface="Calibri"/>
                <a:cs typeface="Calibri"/>
              </a:rPr>
              <a:t>msb</a:t>
            </a:r>
            <a:r>
              <a:rPr lang="en-US" sz="1100">
                <a:ea typeface="Calibri"/>
                <a:cs typeface="Calibri"/>
              </a:rPr>
              <a:t> is 1?</a:t>
            </a:r>
          </a:p>
          <a:p>
            <a:pPr marL="0" indent="0">
              <a:buNone/>
            </a:pPr>
            <a:r>
              <a:rPr lang="en-US" sz="1100">
                <a:ea typeface="Calibri"/>
                <a:cs typeface="Calibri"/>
              </a:rPr>
              <a:t>AES uses a fixed </a:t>
            </a:r>
            <a:r>
              <a:rPr lang="en-US" sz="1100" err="1">
                <a:ea typeface="Calibri"/>
                <a:cs typeface="Calibri"/>
              </a:rPr>
              <a:t>polunomial</a:t>
            </a:r>
            <a:r>
              <a:rPr lang="en-US" sz="1100">
                <a:ea typeface="Calibri"/>
                <a:cs typeface="Calibri"/>
              </a:rPr>
              <a:t> reduction modulo which is:</a:t>
            </a: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x^8 + x^4 + x^3 + x + 1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err="1">
                <a:ea typeface="Calibri"/>
                <a:cs typeface="Calibri"/>
              </a:rPr>
              <a:t>So</a:t>
            </a:r>
            <a:r>
              <a:rPr lang="en-US" sz="1100">
                <a:ea typeface="Calibri"/>
                <a:cs typeface="Calibri"/>
              </a:rPr>
              <a:t> when overflow happens, it is shifted and </a:t>
            </a:r>
            <a:r>
              <a:rPr lang="en-US" sz="1100" err="1">
                <a:ea typeface="Calibri"/>
                <a:cs typeface="Calibri"/>
              </a:rPr>
              <a:t>xor'd</a:t>
            </a:r>
            <a:r>
              <a:rPr lang="en-US" sz="1100">
                <a:ea typeface="Calibri"/>
                <a:cs typeface="Calibri"/>
              </a:rPr>
              <a:t> with 8'h1b.</a:t>
            </a:r>
          </a:p>
        </p:txBody>
      </p:sp>
    </p:spTree>
    <p:extLst>
      <p:ext uri="{BB962C8B-B14F-4D97-AF65-F5344CB8AC3E}">
        <p14:creationId xmlns:p14="http://schemas.microsoft.com/office/powerpoint/2010/main" val="149577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1651-A850-AAF8-6825-9995443B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Gf </a:t>
            </a:r>
            <a:r>
              <a:rPr lang="en-US" dirty="0" err="1">
                <a:ea typeface="Calibri Light"/>
                <a:cs typeface="Calibri Light"/>
              </a:rPr>
              <a:t>mixcoloumns</a:t>
            </a:r>
            <a:r>
              <a:rPr lang="en-US" dirty="0">
                <a:ea typeface="Calibri Light"/>
                <a:cs typeface="Calibri Light"/>
              </a:rPr>
              <a:t> single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3EA2-6620-314D-C101-8C9A43351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In this operation, a single </a:t>
            </a:r>
            <a:r>
              <a:rPr lang="en-US" err="1">
                <a:ea typeface="Calibri"/>
                <a:cs typeface="Calibri"/>
              </a:rPr>
              <a:t>coloumn</a:t>
            </a:r>
            <a:r>
              <a:rPr lang="en-US">
                <a:ea typeface="Calibri"/>
                <a:cs typeface="Calibri"/>
              </a:rPr>
              <a:t> is taken and the follow equations are </a:t>
            </a:r>
            <a:r>
              <a:rPr lang="en-US" err="1">
                <a:ea typeface="Calibri"/>
                <a:cs typeface="Calibri"/>
              </a:rPr>
              <a:t>perform</a:t>
            </a:r>
            <a:r>
              <a:rPr lang="en-US">
                <a:ea typeface="Calibri"/>
                <a:cs typeface="Calibri"/>
              </a:rPr>
              <a:t>ed to get a new </a:t>
            </a:r>
            <a:r>
              <a:rPr lang="en-US" err="1">
                <a:ea typeface="Calibri"/>
                <a:cs typeface="Calibri"/>
              </a:rPr>
              <a:t>coloumn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assign b0 = mul2(a0) ^ mul3(a1) ^ a2 ^ a3;</a:t>
            </a:r>
          </a:p>
          <a:p>
            <a:r>
              <a:rPr lang="en-US">
                <a:ea typeface="+mn-lt"/>
                <a:cs typeface="+mn-lt"/>
              </a:rPr>
              <a:t>assign b1 = a0 ^ mul2(a1) ^ mul3(a2) ^ a3;</a:t>
            </a:r>
          </a:p>
          <a:p>
            <a:r>
              <a:rPr lang="en-US">
                <a:ea typeface="+mn-lt"/>
                <a:cs typeface="+mn-lt"/>
              </a:rPr>
              <a:t>assign b2 = a0 ^ a1 ^ mul2(a2) ^ mul3(a3);</a:t>
            </a:r>
          </a:p>
          <a:p>
            <a:r>
              <a:rPr lang="en-US">
                <a:ea typeface="+mn-lt"/>
                <a:cs typeface="+mn-lt"/>
              </a:rPr>
              <a:t>assign b3 = mul3(a0) ^ a1 ^ a2 ^ mul2(a3);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6999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B094-2675-3884-C43F-D09081A1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mixcoloumn</a:t>
            </a:r>
            <a:r>
              <a:rPr lang="en-US" dirty="0">
                <a:ea typeface="Calibri Light"/>
                <a:cs typeface="Calibri Light"/>
              </a:rPr>
              <a:t>/inv</a:t>
            </a:r>
            <a:endParaRPr lang="en-US" dirty="0" err="1"/>
          </a:p>
        </p:txBody>
      </p:sp>
      <p:pic>
        <p:nvPicPr>
          <p:cNvPr id="13" name="Content Placeholder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DEC7AD3-8F6F-1C89-FCCF-B7F237732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544" y="1687487"/>
            <a:ext cx="4620228" cy="2515234"/>
          </a:xfrm>
          <a:prstGeom prst="rect">
            <a:avLst/>
          </a:prstGeom>
        </p:spPr>
      </p:pic>
      <p:pic>
        <p:nvPicPr>
          <p:cNvPr id="14" name="Picture 13" descr="A screenshot of a black and white text&#10;&#10;AI-generated content may be incorrect.">
            <a:extLst>
              <a:ext uri="{FF2B5EF4-FFF2-40B4-BE49-F238E27FC236}">
                <a16:creationId xmlns:a16="http://schemas.microsoft.com/office/drawing/2014/main" id="{B337457E-5E3F-CD0B-C118-0F2795E59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270" y="1684538"/>
            <a:ext cx="2610575" cy="259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2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F49D-4C41-51D1-30A7-D6C7A666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Key Expansion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A7B85-8FC8-51BA-7240-BAB7704D7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/>
              <a:t>So in the beginning a master key is </a:t>
            </a:r>
            <a:r>
              <a:rPr lang="en-US" sz="2400" err="1"/>
              <a:t>exored</a:t>
            </a:r>
            <a:r>
              <a:rPr lang="en-US" sz="2400"/>
              <a:t> with the plain text, then the scrambled text is produced. All in 128 bits for round 0. </a:t>
            </a:r>
          </a:p>
          <a:p>
            <a:r>
              <a:rPr lang="en-US" sz="2400"/>
              <a:t>Then for all the remaining rounds, round key is derived from the master key. </a:t>
            </a:r>
          </a:p>
          <a:p>
            <a:r>
              <a:rPr lang="en-US" sz="2400"/>
              <a:t>In round 1-9 there is </a:t>
            </a:r>
            <a:r>
              <a:rPr lang="en-US" sz="2400" err="1"/>
              <a:t>subybtes</a:t>
            </a:r>
            <a:r>
              <a:rPr lang="en-US" sz="2400"/>
              <a:t>, shift rows, mix columns, add round key.</a:t>
            </a:r>
          </a:p>
          <a:p>
            <a:r>
              <a:rPr lang="en-US" sz="2400"/>
              <a:t> In round 1-9, each round produces a round key that is </a:t>
            </a:r>
            <a:r>
              <a:rPr lang="en-US" sz="2400" err="1"/>
              <a:t>exored</a:t>
            </a:r>
            <a:r>
              <a:rPr lang="en-US" sz="2400"/>
              <a:t> with the </a:t>
            </a:r>
            <a:r>
              <a:rPr lang="en-US" sz="2400" err="1"/>
              <a:t>curreent</a:t>
            </a:r>
            <a:r>
              <a:rPr lang="en-US" sz="2400"/>
              <a:t> state.</a:t>
            </a:r>
          </a:p>
          <a:p>
            <a:r>
              <a:rPr lang="en-US" sz="2400"/>
              <a:t> Then in round 10 again there is all this except mix columns. The output of the last exor is my cipher text. </a:t>
            </a:r>
          </a:p>
          <a:p>
            <a:r>
              <a:rPr lang="en-US" sz="2400"/>
              <a:t>The formula is: state(out)= state(in)^</a:t>
            </a:r>
            <a:r>
              <a:rPr lang="en-US" sz="2400" err="1"/>
              <a:t>roundkey</a:t>
            </a:r>
            <a:endParaRPr lang="en-US" sz="2400"/>
          </a:p>
          <a:p>
            <a:r>
              <a:rPr lang="en-IN" sz="2400"/>
              <a:t>Formula for key expansion:</a:t>
            </a:r>
          </a:p>
          <a:p>
            <a:r>
              <a:rPr lang="en-IN" sz="2400" err="1"/>
              <a:t>Rotword</a:t>
            </a:r>
            <a:r>
              <a:rPr lang="en-IN" sz="2400"/>
              <a:t>([b0, B1, B2, B3]) = [B1, B2, B3, B0]</a:t>
            </a:r>
          </a:p>
          <a:p>
            <a:r>
              <a:rPr lang="en-IN" sz="2400"/>
              <a:t>Temp = </a:t>
            </a:r>
            <a:r>
              <a:rPr lang="en-IN" sz="2400" err="1"/>
              <a:t>rotword</a:t>
            </a:r>
            <a:r>
              <a:rPr lang="en-IN" sz="2400"/>
              <a:t>(w3) ^ </a:t>
            </a:r>
            <a:r>
              <a:rPr lang="en-IN" sz="2400" err="1"/>
              <a:t>rcon</a:t>
            </a:r>
            <a:r>
              <a:rPr lang="en-IN" sz="2400"/>
              <a:t>[round]</a:t>
            </a:r>
          </a:p>
        </p:txBody>
      </p:sp>
    </p:spTree>
    <p:extLst>
      <p:ext uri="{BB962C8B-B14F-4D97-AF65-F5344CB8AC3E}">
        <p14:creationId xmlns:p14="http://schemas.microsoft.com/office/powerpoint/2010/main" val="4257254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4A0E-7C9E-5DF5-BC9E-26F7186B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371751"/>
            <a:ext cx="10515600" cy="589032"/>
          </a:xfrm>
        </p:spPr>
        <p:txBody>
          <a:bodyPr>
            <a:normAutofit fontScale="90000"/>
          </a:bodyPr>
          <a:lstStyle/>
          <a:p>
            <a:r>
              <a:rPr lang="en-US"/>
              <a:t>ROUND KEY EXPANSION</a:t>
            </a:r>
            <a:endParaRPr lang="en-IN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D3F701FC-193E-F54E-5C03-F906EDDFC4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13FE06C6-F881-14B0-BB4A-9C4183C43F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854279"/>
            <a:ext cx="12192001" cy="629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How the Code Works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Verilog code implements a hardware-based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Expansion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module, which generates the next 128-bit round key from a previous key.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Inputs and Outputs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module takes a 128-bit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key_in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a 4-bit round number to produce a 128-bit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Word Splitting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128-bit input is split into four 32-bit words (w_0, w_1, w_2, w_3) using assign 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RotWord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Function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This cyclically rotates the 32-bit word w_3 to the left by 8 bits (1 byte) using the concatenation operator {w[23:0], w[31:24]}.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Rcon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Function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 lookup table (case statement) returns a specific 8-bit hex value for each round (e.g., 8'h01 for round 1, 8'h02 for round 2). This eliminates symmetry in the keys.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Transformation Flow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/>
              <a:t>reg [31:0] temp;</a:t>
            </a:r>
            <a:r>
              <a:rPr lang="en-US" sz="1800"/>
              <a:t> </a:t>
            </a:r>
            <a:r>
              <a:rPr lang="en-US" sz="2000"/>
              <a:t>A temporary register used to hold intermediate calculations for the transformation.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 =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rot_word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(w3) rotates the last word.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 = temp ^ {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rcon_val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24'h0} performs a bitwise XOR between the rotated word and the round constant.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Generation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new words are created by XORing the previous words with the transformed temporary word in a "chain" fashion: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[127:96] = w0 ^ temp.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[95:64] = w1 ^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[127:96].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[63:32] = w2 ^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[95:64].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[31:0] = w3 ^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[63:32]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32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EAC6-3982-D979-B4FB-7D4FE38F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6632"/>
          </a:xfrm>
        </p:spPr>
        <p:txBody>
          <a:bodyPr>
            <a:normAutofit fontScale="90000"/>
          </a:bodyPr>
          <a:lstStyle/>
          <a:p>
            <a:r>
              <a:rPr lang="en-US"/>
              <a:t>Architecture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2F4C7-105E-0448-58D5-3D7CB0A5E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76" y="804587"/>
            <a:ext cx="7013741" cy="60605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/>
              <a:t>1. Control &amp; Scheduling</a:t>
            </a:r>
            <a:endParaRPr lang="en-US" sz="1600" b="1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AES Control</a:t>
            </a:r>
            <a:r>
              <a:rPr lang="en-US" sz="1600">
                <a:ea typeface="+mn-lt"/>
                <a:cs typeface="+mn-lt"/>
              </a:rPr>
              <a:t>: Manages the round progression and column selection. </a:t>
            </a:r>
          </a:p>
          <a:p>
            <a:r>
              <a:rPr lang="en-US" sz="1600" b="1">
                <a:ea typeface="+mn-lt"/>
                <a:cs typeface="+mn-lt"/>
              </a:rPr>
              <a:t>Key Scheduling</a:t>
            </a:r>
            <a:r>
              <a:rPr lang="en-US" sz="1600">
                <a:ea typeface="+mn-lt"/>
                <a:cs typeface="+mn-lt"/>
              </a:rPr>
              <a:t>: Expands the initial 128-bit key into unique round keys for every column and round. </a:t>
            </a:r>
          </a:p>
          <a:p>
            <a:r>
              <a:rPr lang="en-US" sz="1600" b="1">
                <a:ea typeface="+mn-lt"/>
                <a:cs typeface="+mn-lt"/>
              </a:rPr>
              <a:t>Inverse </a:t>
            </a:r>
            <a:r>
              <a:rPr lang="en-US" sz="1600" b="1" err="1">
                <a:ea typeface="+mn-lt"/>
                <a:cs typeface="+mn-lt"/>
              </a:rPr>
              <a:t>MixColumns</a:t>
            </a:r>
            <a:r>
              <a:rPr lang="en-US" sz="1600">
                <a:ea typeface="+mn-lt"/>
                <a:cs typeface="+mn-lt"/>
              </a:rPr>
              <a:t>: Modifies the keys during decryption to match inverse operations. </a:t>
            </a:r>
          </a:p>
          <a:p>
            <a:r>
              <a:rPr lang="en-US" sz="1600" b="1"/>
              <a:t>2. Data Handling &amp; Logic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Initial Add Round Key</a:t>
            </a:r>
            <a:r>
              <a:rPr lang="en-US" sz="1600">
                <a:ea typeface="+mn-lt"/>
                <a:cs typeface="+mn-lt"/>
              </a:rPr>
              <a:t>: XORs the plaintext with a "Whitening Key" before the main rounds start. </a:t>
            </a:r>
          </a:p>
          <a:p>
            <a:r>
              <a:rPr lang="en-US" sz="1600" b="1">
                <a:ea typeface="+mn-lt"/>
                <a:cs typeface="+mn-lt"/>
              </a:rPr>
              <a:t>State Registers</a:t>
            </a:r>
            <a:r>
              <a:rPr lang="en-US" sz="1600">
                <a:ea typeface="+mn-lt"/>
                <a:cs typeface="+mn-lt"/>
              </a:rPr>
              <a:t>: Store the 128-bit block, allowing the system to select one 32-bit column at a time. </a:t>
            </a:r>
          </a:p>
          <a:p>
            <a:r>
              <a:rPr lang="en-US" sz="1600" b="1">
                <a:ea typeface="+mn-lt"/>
                <a:cs typeface="+mn-lt"/>
              </a:rPr>
              <a:t>Common Equation Block</a:t>
            </a:r>
            <a:r>
              <a:rPr lang="en-US" sz="1600">
                <a:ea typeface="+mn-lt"/>
                <a:cs typeface="+mn-lt"/>
              </a:rPr>
              <a:t>: A unified module containing the </a:t>
            </a:r>
            <a:r>
              <a:rPr lang="en-US" sz="1600" b="1">
                <a:ea typeface="+mn-lt"/>
                <a:cs typeface="+mn-lt"/>
              </a:rPr>
              <a:t>Leaf Cells</a:t>
            </a:r>
            <a:r>
              <a:rPr lang="en-US" sz="1600">
                <a:ea typeface="+mn-lt"/>
                <a:cs typeface="+mn-lt"/>
              </a:rPr>
              <a:t> (S-Box and Galois Multiplier) to transform the data. </a:t>
            </a:r>
          </a:p>
          <a:p>
            <a:r>
              <a:rPr lang="en-US" sz="1600" b="1"/>
              <a:t>3. The Execution Steps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Selection</a:t>
            </a:r>
            <a:r>
              <a:rPr lang="en-US" sz="1600">
                <a:ea typeface="+mn-lt"/>
                <a:cs typeface="+mn-lt"/>
              </a:rPr>
              <a:t>: The controller picks a 32-bit column from the state registers. </a:t>
            </a:r>
          </a:p>
          <a:p>
            <a:r>
              <a:rPr lang="en-US" sz="1600" b="1">
                <a:ea typeface="+mn-lt"/>
                <a:cs typeface="+mn-lt"/>
              </a:rPr>
              <a:t>Processing</a:t>
            </a:r>
            <a:r>
              <a:rPr lang="en-US" sz="1600">
                <a:ea typeface="+mn-lt"/>
                <a:cs typeface="+mn-lt"/>
              </a:rPr>
              <a:t>: The column passes through the substitution and mixing layers. </a:t>
            </a:r>
          </a:p>
          <a:p>
            <a:r>
              <a:rPr lang="en-US" sz="1600" b="1">
                <a:ea typeface="+mn-lt"/>
                <a:cs typeface="+mn-lt"/>
              </a:rPr>
              <a:t>Key Application</a:t>
            </a:r>
            <a:r>
              <a:rPr lang="en-US" sz="1600">
                <a:ea typeface="+mn-lt"/>
                <a:cs typeface="+mn-lt"/>
              </a:rPr>
              <a:t>: The transformed data is XORed with the corresponding round key. </a:t>
            </a:r>
          </a:p>
          <a:p>
            <a:r>
              <a:rPr lang="en-US" sz="1600" b="1">
                <a:ea typeface="+mn-lt"/>
                <a:cs typeface="+mn-lt"/>
              </a:rPr>
              <a:t>Feedback</a:t>
            </a:r>
            <a:r>
              <a:rPr lang="en-US" sz="1600">
                <a:ea typeface="+mn-lt"/>
                <a:cs typeface="+mn-lt"/>
              </a:rPr>
              <a:t>: The result is fed back into the registers, and the process repeats for all columns and rounds until encryption is complete.</a:t>
            </a:r>
          </a:p>
          <a:p>
            <a:endParaRPr lang="en-US" sz="1600">
              <a:ea typeface="Calibri"/>
              <a:cs typeface="Calibri"/>
            </a:endParaRPr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53B8B0BF-3A36-FB99-8F96-0CBCC34F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884" y="800485"/>
            <a:ext cx="4979303" cy="606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87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C180-6D98-692F-E5BA-F20782D9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Planning: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182F-E222-9A75-51F8-2D55B9AA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>
                <a:ea typeface="Calibri"/>
                <a:cs typeface="Calibri"/>
              </a:rPr>
              <a:t>Alphin David k:</a:t>
            </a:r>
          </a:p>
          <a:p>
            <a:pPr marL="0" indent="0">
              <a:buNone/>
            </a:pPr>
            <a:r>
              <a:rPr lang="en-US" dirty="0" err="1">
                <a:ea typeface="Calibri"/>
                <a:cs typeface="Calibri"/>
              </a:rPr>
              <a:t>Mixcoloumns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mixcoloumns</a:t>
            </a:r>
            <a:r>
              <a:rPr lang="en-US" dirty="0">
                <a:ea typeface="Calibri"/>
                <a:cs typeface="Calibri"/>
              </a:rPr>
              <a:t> single, leaf cell GF  multiplier, </a:t>
            </a:r>
            <a:r>
              <a:rPr lang="en-US" dirty="0" err="1">
                <a:ea typeface="Calibri"/>
                <a:cs typeface="Calibri"/>
              </a:rPr>
              <a:t>invmixcol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invmixcol</a:t>
            </a:r>
            <a:r>
              <a:rPr lang="en-US" dirty="0">
                <a:ea typeface="Calibri"/>
                <a:cs typeface="Calibri"/>
              </a:rPr>
              <a:t> single , block diagram, state matrix, 1 paper(</a:t>
            </a:r>
            <a:r>
              <a:rPr lang="en-US" dirty="0" err="1">
                <a:ea typeface="Calibri"/>
                <a:cs typeface="Calibri"/>
              </a:rPr>
              <a:t>anniruden</a:t>
            </a:r>
            <a:r>
              <a:rPr lang="en-US" dirty="0">
                <a:ea typeface="Calibri"/>
                <a:cs typeface="Calibri"/>
              </a:rPr>
              <a:t> bin </a:t>
            </a:r>
            <a:r>
              <a:rPr lang="en-US" dirty="0" err="1">
                <a:ea typeface="Calibri"/>
                <a:cs typeface="Calibri"/>
              </a:rPr>
              <a:t>kasmin</a:t>
            </a:r>
            <a:r>
              <a:rPr lang="en-US" dirty="0">
                <a:ea typeface="Calibri"/>
                <a:cs typeface="Calibri"/>
              </a:rPr>
              <a:t>), README(updates)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Ashton Rego:</a:t>
            </a:r>
          </a:p>
          <a:p>
            <a:pPr marL="0" indent="0">
              <a:buNone/>
            </a:pPr>
            <a:r>
              <a:rPr lang="en-US" err="1">
                <a:ea typeface="Calibri"/>
                <a:cs typeface="Calibri"/>
              </a:rPr>
              <a:t>Sbox,inversesbox,subbytes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inversesubbytes</a:t>
            </a:r>
            <a:r>
              <a:rPr lang="en-US" dirty="0">
                <a:ea typeface="Calibri"/>
                <a:cs typeface="Calibri"/>
              </a:rPr>
              <a:t> throughput and resource usage of papers,1 paper(</a:t>
            </a:r>
            <a:r>
              <a:rPr lang="en-US" dirty="0">
                <a:ea typeface="+mn-lt"/>
                <a:cs typeface="+mn-lt"/>
              </a:rPr>
              <a:t>Arulmurugan </a:t>
            </a:r>
            <a:r>
              <a:rPr lang="en-US" err="1">
                <a:ea typeface="+mn-lt"/>
                <a:cs typeface="+mn-lt"/>
              </a:rPr>
              <a:t>Azhaganantham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Cyrus </a:t>
            </a:r>
            <a:r>
              <a:rPr lang="en-US" dirty="0" err="1">
                <a:ea typeface="Calibri"/>
                <a:cs typeface="Calibri"/>
              </a:rPr>
              <a:t>herold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fernandes</a:t>
            </a:r>
            <a:r>
              <a:rPr lang="en-US" dirty="0"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en-US" dirty="0" err="1">
                <a:ea typeface="Calibri"/>
                <a:cs typeface="Calibri"/>
              </a:rPr>
              <a:t>Shiftrows,inverse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shiftrows,sbox</a:t>
            </a:r>
            <a:r>
              <a:rPr lang="en-US" dirty="0">
                <a:ea typeface="Calibri"/>
                <a:cs typeface="Calibri"/>
              </a:rPr>
              <a:t> leaf </a:t>
            </a:r>
            <a:r>
              <a:rPr lang="en-US" dirty="0" err="1">
                <a:ea typeface="Calibri"/>
                <a:cs typeface="Calibri"/>
              </a:rPr>
              <a:t>cellsimulation</a:t>
            </a:r>
            <a:r>
              <a:rPr lang="en-US" dirty="0">
                <a:ea typeface="Calibri"/>
                <a:cs typeface="Calibri"/>
              </a:rPr>
              <a:t>, 1 paper(</a:t>
            </a:r>
            <a:r>
              <a:rPr lang="en-US" dirty="0">
                <a:ea typeface="+mn-lt"/>
                <a:cs typeface="+mn-lt"/>
              </a:rPr>
              <a:t>R. Parthasarathy)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Jawahar </a:t>
            </a:r>
            <a:r>
              <a:rPr lang="en-US" dirty="0" err="1">
                <a:ea typeface="Calibri"/>
                <a:cs typeface="Calibri"/>
              </a:rPr>
              <a:t>lawrence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rodrigues</a:t>
            </a:r>
            <a:r>
              <a:rPr lang="en-US" dirty="0"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Leaf cell </a:t>
            </a:r>
            <a:r>
              <a:rPr lang="en-US" dirty="0" err="1">
                <a:ea typeface="Calibri"/>
                <a:cs typeface="Calibri"/>
              </a:rPr>
              <a:t>Addroundkey</a:t>
            </a:r>
            <a:r>
              <a:rPr lang="en-US" dirty="0">
                <a:ea typeface="Calibri"/>
                <a:cs typeface="Calibri"/>
              </a:rPr>
              <a:t>(EXOR), </a:t>
            </a:r>
            <a:r>
              <a:rPr lang="en-US" dirty="0" err="1">
                <a:ea typeface="Calibri"/>
                <a:cs typeface="Calibri"/>
              </a:rPr>
              <a:t>keyexpansion</a:t>
            </a:r>
            <a:r>
              <a:rPr lang="en-US" dirty="0">
                <a:ea typeface="Calibri"/>
                <a:cs typeface="Calibri"/>
              </a:rPr>
              <a:t>, README(update),1 paper(</a:t>
            </a:r>
            <a:r>
              <a:rPr lang="en-US" dirty="0">
                <a:ea typeface="+mn-lt"/>
                <a:cs typeface="+mn-lt"/>
              </a:rPr>
              <a:t>SALMAN AHMED)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Everyone has uploaded their respective codes and testbenches along with simulation pictures present in </a:t>
            </a:r>
            <a:r>
              <a:rPr lang="en-US" dirty="0" err="1">
                <a:ea typeface="Calibri"/>
                <a:cs typeface="Calibri"/>
              </a:rPr>
              <a:t>github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 err="1">
                <a:ea typeface="Calibri"/>
                <a:cs typeface="Calibri"/>
              </a:rPr>
              <a:t>Github</a:t>
            </a:r>
            <a:r>
              <a:rPr lang="en-US" b="1" dirty="0"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https://github.com/Alphin12345/AES_TP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1391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DEPARTMENT OF ELECTRONICS &amp; COMMUNICATION ENGINEERING ST JOSEPH ENGINEERING COLLEGE VAMANJOOR MANGALURU-575028  Course Title: Digital Design using HDL  Course Code: 22ECE42  Semester: Fourth Semester   PBL Secondary Research Report  FPGA Based-Advanced Encryption Standard (AES)</vt:lpstr>
      <vt:lpstr>What is AES?</vt:lpstr>
      <vt:lpstr>Core models</vt:lpstr>
      <vt:lpstr>Gf multiplier</vt:lpstr>
      <vt:lpstr>Gf mixcoloumns single</vt:lpstr>
      <vt:lpstr>mixcoloumn/inv</vt:lpstr>
      <vt:lpstr>Round Key Expansion</vt:lpstr>
      <vt:lpstr>ROUND KEY EXPANSION</vt:lpstr>
      <vt:lpstr>Architecture </vt:lpstr>
      <vt:lpstr>Planning: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Jawahar Rodrigues</dc:creator>
  <cp:revision>222</cp:revision>
  <dcterms:created xsi:type="dcterms:W3CDTF">2026-05-12T04:17:33Z</dcterms:created>
  <dcterms:modified xsi:type="dcterms:W3CDTF">2026-05-12T08:58:45Z</dcterms:modified>
</cp:coreProperties>
</file>