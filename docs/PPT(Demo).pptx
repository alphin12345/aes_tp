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6" r:id="rId13"/>
  </p:sldIdLst>
  <p:sldSz cx="12192000" cy="6858000"/>
  <p:notesSz cx="6858000" cy="9144000"/>
  <p:embeddedFontLst>
    <p:embeddedFont>
      <p:font typeface="Google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GSWJzm7xiHY8k53+gH+RzrN75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f594cd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7f594cd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2783" y="3498572"/>
            <a:ext cx="9025003" cy="302149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304800" y="0"/>
            <a:ext cx="11317357" cy="3428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/>
              <a:t>DEPARTMENT OF ELECTRONICS &amp; COMMUNICATION ENGINEERING</a:t>
            </a:r>
            <a:br>
              <a:rPr lang="en-US" sz="2800" b="1"/>
            </a:br>
            <a:r>
              <a:rPr lang="en-US" sz="2800" b="1"/>
              <a:t>ST JOSEPH ENGINEERING COLLEGE VAMANJOOR MANGALURU-575028</a:t>
            </a:r>
            <a:br>
              <a:rPr lang="en-US" sz="2800" b="1"/>
            </a:br>
            <a:br>
              <a:rPr lang="en-US" sz="2000"/>
            </a:br>
            <a:r>
              <a:rPr lang="en-US" sz="2400" b="1"/>
              <a:t>Course Title: Digital Design using HDL </a:t>
            </a:r>
            <a:br>
              <a:rPr lang="en-US" sz="2400" b="1"/>
            </a:br>
            <a:r>
              <a:rPr lang="en-US" sz="2400" b="1"/>
              <a:t>Course Code: 22ECE42 </a:t>
            </a:r>
            <a:br>
              <a:rPr lang="en-US" sz="2400" b="1"/>
            </a:br>
            <a:r>
              <a:rPr lang="en-US" sz="2400" b="1"/>
              <a:t>Semester: Fourth Semester </a:t>
            </a:r>
            <a:br>
              <a:rPr lang="en-US" sz="2400" b="1"/>
            </a:br>
            <a:br>
              <a:rPr lang="en-US" sz="2400" b="1"/>
            </a:br>
            <a:r>
              <a:rPr lang="en-US" sz="2400" b="1"/>
              <a:t>PBL Secondary Research Report </a:t>
            </a:r>
            <a:br>
              <a:rPr lang="en-US" sz="2400" b="1"/>
            </a:br>
            <a:r>
              <a:rPr lang="en-US" sz="2400" b="1"/>
              <a:t>FPGA Based-Advanced Encryption Standard (AES)</a:t>
            </a:r>
            <a:endParaRPr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What is AES?</a:t>
            </a:r>
            <a:br>
              <a:rPr lang="en-US"/>
            </a:br>
            <a:r>
              <a:rPr lang="en-US" sz="2200"/>
              <a:t>Advanced Encryption Standard </a:t>
            </a:r>
            <a:r>
              <a:rPr lang="en-US" sz="2200" b="1"/>
              <a:t>AES is a method used to protect data by converting normal readable information into coded information using a secret key, so only authorized users can read it.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Plaintext to </a:t>
            </a:r>
            <a:r>
              <a:rPr lang="en-US" dirty="0" err="1"/>
              <a:t>statematrix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2464D1-58CB-7C5A-0E6D-AED999C636DA}"/>
              </a:ext>
            </a:extLst>
          </p:cNvPr>
          <p:cNvSpPr txBox="1"/>
          <p:nvPr/>
        </p:nvSpPr>
        <p:spPr>
          <a:xfrm>
            <a:off x="838200" y="2542032"/>
            <a:ext cx="2832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*Explanation with respect to code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43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Architecture </a:t>
            </a:r>
            <a:endParaRPr/>
          </a:p>
        </p:txBody>
      </p:sp>
      <p:sp>
        <p:nvSpPr>
          <p:cNvPr id="141" name="Google Shape;141;p9"/>
          <p:cNvSpPr txBox="1">
            <a:spLocks noGrp="1"/>
          </p:cNvSpPr>
          <p:nvPr>
            <p:ph type="body" idx="1"/>
          </p:nvPr>
        </p:nvSpPr>
        <p:spPr>
          <a:xfrm>
            <a:off x="-1576" y="804587"/>
            <a:ext cx="7013741" cy="6060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</p:txBody>
      </p:sp>
      <p:pic>
        <p:nvPicPr>
          <p:cNvPr id="142" name="Google Shape;142;p9" descr="A diagram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785" y="0"/>
            <a:ext cx="807831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Core models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200" b="1" dirty="0" err="1"/>
              <a:t>Subbytes</a:t>
            </a:r>
            <a:endParaRPr lang="en-US" sz="3200" b="1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sz="3200" b="1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3200" b="1" dirty="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194BD-7342-06CC-DB3A-60D8DB9C9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33798"/>
            <a:ext cx="1011574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SubBytes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non-linear step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AES. In cryptography, non-linearity is vital because it creates "Confusion," making it extremely difficult for an attacker to use mathematical shortcuts (like linear cryptanalysis) to crack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cs typeface="Google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Google Sans" panose="020B0604020202020204" charset="0"/>
              </a:rPr>
              <a:t>How it works mathematically: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SubBytes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treats each byte as an element in a finite field, specifically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Galois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Field$GF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(2^8)$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transformation happens in two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Multiplicative Inverse: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finds the multiplicative inverse of the byte in $GF(2^8)$. If the byte is $00_{16}$, it stays $00_{16}$.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Affine Transformation: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applies a complex bitwise matrix multiplication and adds a constant ($63_{16}$).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f594cd50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6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SHIFTROWS</a:t>
            </a:r>
            <a:endParaRPr/>
          </a:p>
        </p:txBody>
      </p:sp>
      <p:sp>
        <p:nvSpPr>
          <p:cNvPr id="103" name="Google Shape;103;g3e7f594cd50_0_0"/>
          <p:cNvSpPr txBox="1">
            <a:spLocks noGrp="1"/>
          </p:cNvSpPr>
          <p:nvPr>
            <p:ph type="body" idx="1"/>
          </p:nvPr>
        </p:nvSpPr>
        <p:spPr>
          <a:xfrm>
            <a:off x="838200" y="1346950"/>
            <a:ext cx="10515600" cy="483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In a 128-bit AES system, the data is treated as a $4 \times 4$ matrix of bytes. Each byte is 8 bits, totaling $16 \times 8 = 128$ bits.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mapping of the 128-bit input () to the matrix in your code follows this pattern:</a:t>
            </a:r>
            <a:r>
              <a:rPr lang="en-US" sz="15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data_in</a:t>
            </a:r>
            <a:endParaRPr sz="15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0: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$b_0, b_4, b_8, b_{12}$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1: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$b_1, b_5, b_9, b_{13}$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2: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$b_2, b_6, b_{10}, b_{14}$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3: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$b_3, b_7, b_{11}, b_{15}$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goal of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ShiftRows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is to cyclically shift the last three rows of the state matrix to the left by different offsets.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How it works: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0: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No shift.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1: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1 byte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2: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2 bytes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Row 3: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Shift left by </a:t>
            </a: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3 bytes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715048" y="-3367"/>
            <a:ext cx="10515600" cy="81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Gf multiplier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543791" y="973185"/>
            <a:ext cx="10684934" cy="5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In GF arithmetic: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numbers are treated like polynomials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addition is XOR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overflow is reduced using a special polynomial 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So multiplication behaves differently.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----------------------------------------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Flow: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Input a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  ↓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Check sel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  ↓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00 → multiply by 1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01 → multiply by 2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10 → multiply by 3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  ↓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Output result</a:t>
            </a:r>
            <a:endParaRPr sz="11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--------------------------------------------------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What if the msb is 1?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AES uses a fixed polunomial reduction modulo which is: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/>
              <a:t>x^8 + x^4 + x^3 + x + 1</a:t>
            </a:r>
            <a:endParaRPr sz="11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/>
              <a:t>So when overflow happens, it is shifted and xor'd with 8'h1b.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Gf mixcoloumns single</a:t>
            </a:r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operation, a single coloumn is taken and the follow equations are performed to get a new coloumn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b0 = mul2(a0) ^ mul3(a1) ^ a2 ^ a3;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b1 = a0 ^ mul2(a1) ^ mul3(a2) ^ a3;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b2 = a0 ^ a1 ^ mul2(a2) ^ mul3(a3);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assign b3 = mul3(a0) ^ a1 ^ a2 ^ mul2(a3);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mixcoloumn</a:t>
            </a:r>
            <a:endParaRPr dirty="0"/>
          </a:p>
        </p:txBody>
      </p:sp>
      <p:sp>
        <p:nvSpPr>
          <p:cNvPr id="121" name="Google Shape;12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Advanced Encryption Standard, MixColumns is the step that mixes the bytes inside each column of the AES state matrix to create strong diffusion</a:t>
            </a:r>
            <a:endParaRPr/>
          </a:p>
        </p:txBody>
      </p:sp>
      <p:pic>
        <p:nvPicPr>
          <p:cNvPr id="122" name="Google Shape;122;p6" title="Screenshot 2026-05-12 1456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0" y="3534550"/>
            <a:ext cx="5023502" cy="193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09267-3CF8-C3D6-4C43-4803C69BB7B6}"/>
              </a:ext>
            </a:extLst>
          </p:cNvPr>
          <p:cNvSpPr txBox="1"/>
          <p:nvPr/>
        </p:nvSpPr>
        <p:spPr>
          <a:xfrm>
            <a:off x="678942" y="723936"/>
            <a:ext cx="63070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Inverse </a:t>
            </a:r>
            <a:r>
              <a:rPr lang="en-US" sz="3200" b="1" dirty="0" err="1"/>
              <a:t>mixcoloumn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97240-4EDB-3A44-CD3A-A9395D00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596" y="1810513"/>
            <a:ext cx="4100284" cy="4059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F671CD-E9C6-783E-E2BA-C93659101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" y="2418388"/>
            <a:ext cx="5684883" cy="308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3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Round Key Expansion</a:t>
            </a: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So in the beginning a master key is exored with the plain text, then the scrambled text is produced. All in 128 bits for round 0.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Then for all the remaining rounds, round key is derived from the master key.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 round 1-9 there is subybtes, shift rows, mix columns, add round key.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 In round 1-9, each round produces a round key that is exored with the curreent state.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 Then in round 10 again there is all this except mix columns. The output of the last exor is my cipher text.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The formula is: state(out)= state(in)^roundkey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Formula for key expansion: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Rotword([b0, B1, B2, B3]) = [B1, B2, B3, B0]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Temp = rotword(w3) ^ rcon[round]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213095" y="655215"/>
            <a:ext cx="10515600" cy="589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ROUND KEY EXPANSION</a:t>
            </a:r>
            <a:endParaRPr dirty="0"/>
          </a:p>
        </p:txBody>
      </p:sp>
      <p:sp>
        <p:nvSpPr>
          <p:cNvPr id="134" name="Google Shape;134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0" y="1993063"/>
            <a:ext cx="12192001" cy="401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latin typeface="Google Sans"/>
                <a:ea typeface="Google Sans"/>
                <a:cs typeface="Google Sans"/>
                <a:sym typeface="Google Sans"/>
              </a:rPr>
              <a:t>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  Transformation Flow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      reg [31:0] temp;</a:t>
            </a:r>
            <a:r>
              <a:rPr lang="en-US" sz="1800" dirty="0"/>
              <a:t> </a:t>
            </a:r>
            <a:r>
              <a:rPr lang="en-US" sz="2000" dirty="0"/>
              <a:t>A temporary register used to hold intermediate calculations for the transformation.</a:t>
            </a:r>
            <a:endParaRPr sz="2000" b="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temp =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rot_word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(w3) rotates the last word.</a:t>
            </a:r>
            <a:endParaRPr dirty="0"/>
          </a:p>
          <a:p>
            <a:pPr marL="457200" marR="0" lvl="1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temp = temp ^ {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rcon_val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, 24'h0} performs a bitwise XOR between the rotated word and the round constant.</a:t>
            </a:r>
            <a:endParaRPr lang="en-US" dirty="0"/>
          </a:p>
          <a:p>
            <a:pPr marL="330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330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 Generation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: The new words are created by XORing the previous words with the transformed temporary word in a "chain" fashion: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[127:96] = w0 ^ temp.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[95:64] = w1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[127:96].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[63:32] = w2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[95:64].</a:t>
            </a:r>
            <a:endParaRPr dirty="0"/>
          </a:p>
          <a:p>
            <a:pPr marL="914400" marR="0" lvl="2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[31:0] = w3 ^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key_out</a:t>
            </a:r>
            <a:r>
              <a:rPr lang="en-US" b="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[63:32]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Planning:</a:t>
            </a:r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Alphin David k: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Mixcoloumns</a:t>
            </a:r>
            <a:r>
              <a:rPr lang="en-US" dirty="0"/>
              <a:t>, </a:t>
            </a:r>
            <a:r>
              <a:rPr lang="en-US" dirty="0" err="1"/>
              <a:t>mixcoloumns</a:t>
            </a:r>
            <a:r>
              <a:rPr lang="en-US" dirty="0"/>
              <a:t> single, leaf cell GF  multiplier, </a:t>
            </a:r>
            <a:r>
              <a:rPr lang="en-US" dirty="0" err="1"/>
              <a:t>invmixcol</a:t>
            </a:r>
            <a:r>
              <a:rPr lang="en-US" dirty="0"/>
              <a:t>, </a:t>
            </a:r>
            <a:r>
              <a:rPr lang="en-US" dirty="0" err="1"/>
              <a:t>invmixcol</a:t>
            </a:r>
            <a:r>
              <a:rPr lang="en-US" dirty="0"/>
              <a:t> single , block diagram, state matrix, 1 paper(</a:t>
            </a:r>
            <a:r>
              <a:rPr lang="en-US" dirty="0" err="1"/>
              <a:t>anniruden</a:t>
            </a:r>
            <a:r>
              <a:rPr lang="en-US" dirty="0"/>
              <a:t> bin </a:t>
            </a:r>
            <a:r>
              <a:rPr lang="en-US" dirty="0" err="1"/>
              <a:t>kasmin</a:t>
            </a:r>
            <a:r>
              <a:rPr lang="en-US" dirty="0"/>
              <a:t>), README(updates)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Ashton Rego: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Sbox,inversesbox</a:t>
            </a:r>
            <a:r>
              <a:rPr lang="en-US" dirty="0"/>
              <a:t>, throughput and resource usage of papers,1 paper(Arulmurugan </a:t>
            </a:r>
            <a:r>
              <a:rPr lang="en-US" dirty="0" err="1"/>
              <a:t>Azhaganantham</a:t>
            </a:r>
            <a:r>
              <a:rPr lang="en-US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Cyrus </a:t>
            </a:r>
            <a:r>
              <a:rPr lang="en-US" dirty="0" err="1"/>
              <a:t>herold</a:t>
            </a:r>
            <a:r>
              <a:rPr lang="en-US" dirty="0"/>
              <a:t> </a:t>
            </a:r>
            <a:r>
              <a:rPr lang="en-US" dirty="0" err="1"/>
              <a:t>fernandes</a:t>
            </a:r>
            <a:r>
              <a:rPr lang="en-US" dirty="0"/>
              <a:t>:</a:t>
            </a:r>
            <a:endParaRPr dirty="0"/>
          </a:p>
          <a:p>
            <a:pPr marL="0" lvl="0" indent="0">
              <a:buSzPct val="100000"/>
              <a:buNone/>
            </a:pPr>
            <a:r>
              <a:rPr lang="en-US" dirty="0" err="1"/>
              <a:t>Shiftrows,inverse</a:t>
            </a:r>
            <a:r>
              <a:rPr lang="en-US" dirty="0"/>
              <a:t> </a:t>
            </a:r>
            <a:r>
              <a:rPr lang="en-US" dirty="0" err="1"/>
              <a:t>shiftrows,sbox</a:t>
            </a:r>
            <a:r>
              <a:rPr lang="en-US" dirty="0"/>
              <a:t> leaf </a:t>
            </a:r>
            <a:r>
              <a:rPr lang="en-US" dirty="0" err="1"/>
              <a:t>cellsimulation</a:t>
            </a:r>
            <a:r>
              <a:rPr lang="en-US" dirty="0"/>
              <a:t>, </a:t>
            </a:r>
            <a:r>
              <a:rPr lang="en-US" dirty="0" err="1"/>
              <a:t>subbytes</a:t>
            </a:r>
            <a:r>
              <a:rPr lang="en-US" dirty="0"/>
              <a:t>, </a:t>
            </a:r>
            <a:r>
              <a:rPr lang="en-US" dirty="0" err="1"/>
              <a:t>inversesubbytes</a:t>
            </a:r>
            <a:r>
              <a:rPr lang="en-US" dirty="0"/>
              <a:t>, 1 paper(R. Parthasarathy)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Jawahar </a:t>
            </a:r>
            <a:r>
              <a:rPr lang="en-US" dirty="0" err="1"/>
              <a:t>lawrence</a:t>
            </a:r>
            <a:r>
              <a:rPr lang="en-US" dirty="0"/>
              <a:t> </a:t>
            </a:r>
            <a:r>
              <a:rPr lang="en-US" dirty="0" err="1"/>
              <a:t>rodrigues</a:t>
            </a:r>
            <a:r>
              <a:rPr lang="en-US" dirty="0"/>
              <a:t>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Leaf cell </a:t>
            </a:r>
            <a:r>
              <a:rPr lang="en-US" dirty="0" err="1"/>
              <a:t>Addroundkey</a:t>
            </a:r>
            <a:r>
              <a:rPr lang="en-US" dirty="0"/>
              <a:t>(EXOR), </a:t>
            </a:r>
            <a:r>
              <a:rPr lang="en-US" dirty="0" err="1"/>
              <a:t>keyexpansion</a:t>
            </a:r>
            <a:r>
              <a:rPr lang="en-US" dirty="0"/>
              <a:t>, README(update),1 paper(SALMAN AHMED)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Everyone has uploaded their respective codes and testbenches along with simulation pictures present in </a:t>
            </a:r>
            <a:r>
              <a:rPr lang="en-US" dirty="0" err="1"/>
              <a:t>github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 err="1"/>
              <a:t>Github</a:t>
            </a:r>
            <a:r>
              <a:rPr lang="en-US" b="1" dirty="0"/>
              <a:t>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https://github.com/Alphin12345/AES_TP</a:t>
            </a:r>
            <a:endParaRPr dirty="0"/>
          </a:p>
          <a:p>
            <a:pPr marL="228600" lvl="0" indent="-1574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1076</Words>
  <Application>Microsoft Office PowerPoint</Application>
  <PresentationFormat>Widescreen</PresentationFormat>
  <Paragraphs>97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Google Sans Text</vt:lpstr>
      <vt:lpstr>Google Sans</vt:lpstr>
      <vt:lpstr>Aptos</vt:lpstr>
      <vt:lpstr>Arial</vt:lpstr>
      <vt:lpstr>Office Theme</vt:lpstr>
      <vt:lpstr>DEPARTMENT OF ELECTRONICS &amp; COMMUNICATION ENGINEERING ST JOSEPH ENGINEERING COLLEGE VAMANJOOR MANGALURU-575028  Course Title: Digital Design using HDL  Course Code: 22ECE42  Semester: Fourth Semester   PBL Secondary Research Report  FPGA Based-Advanced Encryption Standard (AES)</vt:lpstr>
      <vt:lpstr>What is AES? Advanced Encryption Standard AES is a method used to protect data by converting normal readable information into coded information using a secret key, so only authorized users can read it.</vt:lpstr>
      <vt:lpstr>Architecture </vt:lpstr>
      <vt:lpstr>Core models</vt:lpstr>
      <vt:lpstr>SHIFTROWS</vt:lpstr>
      <vt:lpstr>Gf multiplier</vt:lpstr>
      <vt:lpstr>Gf mixcoloumns single</vt:lpstr>
      <vt:lpstr>mixcoloumn</vt:lpstr>
      <vt:lpstr>PowerPoint Presentation</vt:lpstr>
      <vt:lpstr>Round Key Expansion</vt:lpstr>
      <vt:lpstr>ROUND KEY EXPANSION</vt:lpstr>
      <vt:lpstr>Planning: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Jawahar Rodrigues</dc:creator>
  <cp:lastModifiedBy>hachimanhiki777@gmail.com</cp:lastModifiedBy>
  <cp:revision>3</cp:revision>
  <dcterms:created xsi:type="dcterms:W3CDTF">2026-05-12T04:17:33Z</dcterms:created>
  <dcterms:modified xsi:type="dcterms:W3CDTF">2026-05-12T09:59:57Z</dcterms:modified>
</cp:coreProperties>
</file>