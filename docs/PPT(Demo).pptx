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2" r:id="rId9"/>
    <p:sldId id="267" r:id="rId10"/>
    <p:sldId id="263" r:id="rId11"/>
    <p:sldId id="264" r:id="rId12"/>
    <p:sldId id="266" r:id="rId13"/>
  </p:sldIdLst>
  <p:sldSz cx="12192000" cy="6858000"/>
  <p:notesSz cx="6858000" cy="9144000"/>
  <p:embeddedFontLst>
    <p:embeddedFont>
      <p:font typeface="Google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hGSWJzm7xiHY8k53+gH+RzrN752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7f594cd5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7f594cd5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22783" y="3498572"/>
            <a:ext cx="9025003" cy="302149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304800" y="0"/>
            <a:ext cx="11317357" cy="342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 sz="2800" b="1"/>
              <a:t>DEPARTMENT OF ELECTRONICS &amp; COMMUNICATION ENGINEERING</a:t>
            </a:r>
            <a:br>
              <a:rPr lang="en-US" sz="2800" b="1"/>
            </a:br>
            <a:r>
              <a:rPr lang="en-US" sz="2800" b="1"/>
              <a:t>ST JOSEPH ENGINEERING COLLEGE VAMANJOOR MANGALURU-575028</a:t>
            </a:r>
            <a:br>
              <a:rPr lang="en-US" sz="2800" b="1"/>
            </a:br>
            <a:br>
              <a:rPr lang="en-US" sz="2000"/>
            </a:br>
            <a:r>
              <a:rPr lang="en-US" sz="2400" b="1"/>
              <a:t>Course Title: Digital Design using HDL </a:t>
            </a:r>
            <a:br>
              <a:rPr lang="en-US" sz="2400" b="1"/>
            </a:br>
            <a:r>
              <a:rPr lang="en-US" sz="2400" b="1"/>
              <a:t>Course Code: 22ECE42 </a:t>
            </a:r>
            <a:br>
              <a:rPr lang="en-US" sz="2400" b="1"/>
            </a:br>
            <a:r>
              <a:rPr lang="en-US" sz="2400" b="1"/>
              <a:t>Semester: Fourth Semester </a:t>
            </a:r>
            <a:br>
              <a:rPr lang="en-US" sz="2400" b="1"/>
            </a:br>
            <a:br>
              <a:rPr lang="en-US" sz="2400" b="1"/>
            </a:br>
            <a:r>
              <a:rPr lang="en-US" sz="2400" b="1"/>
              <a:t>PBL Secondary Research Report </a:t>
            </a:r>
            <a:br>
              <a:rPr lang="en-US" sz="2400" b="1"/>
            </a:br>
            <a:r>
              <a:rPr lang="en-US" sz="2400" b="1"/>
              <a:t>FPGA Based-Advanced Encryption Standard (AES)</a:t>
            </a:r>
            <a:endParaRPr sz="2400"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What is AES?</a:t>
            </a:r>
            <a:br>
              <a:rPr lang="en-US"/>
            </a:br>
            <a:r>
              <a:rPr lang="en-US" sz="2200"/>
              <a:t>Advanced Encryption Standard </a:t>
            </a:r>
            <a:r>
              <a:rPr lang="en-US" sz="2200" b="1"/>
              <a:t>AES is a method used to protect data by converting normal readable information into coded information using a secret key, so only authorized users can read it.</a:t>
            </a:r>
            <a:endParaRPr/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Plaintext to </a:t>
            </a:r>
            <a:r>
              <a:rPr lang="en-US" dirty="0" err="1"/>
              <a:t>statematrix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2464D1-58CB-7C5A-0E6D-AED999C636DA}"/>
              </a:ext>
            </a:extLst>
          </p:cNvPr>
          <p:cNvSpPr txBox="1"/>
          <p:nvPr/>
        </p:nvSpPr>
        <p:spPr>
          <a:xfrm>
            <a:off x="838200" y="2542032"/>
            <a:ext cx="283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*Explanation with respect to code</a:t>
            </a:r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436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/>
              <a:t>Architecture </a:t>
            </a:r>
            <a:endParaRPr/>
          </a:p>
        </p:txBody>
      </p:sp>
      <p:sp>
        <p:nvSpPr>
          <p:cNvPr id="141" name="Google Shape;141;p9"/>
          <p:cNvSpPr txBox="1">
            <a:spLocks noGrp="1"/>
          </p:cNvSpPr>
          <p:nvPr>
            <p:ph type="body" idx="1"/>
          </p:nvPr>
        </p:nvSpPr>
        <p:spPr>
          <a:xfrm>
            <a:off x="-1576" y="804587"/>
            <a:ext cx="7013741" cy="6060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127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 sz="1600" dirty="0"/>
          </a:p>
        </p:txBody>
      </p:sp>
      <p:pic>
        <p:nvPicPr>
          <p:cNvPr id="142" name="Google Shape;142;p9" descr="A diagram of a computer program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2785" y="0"/>
            <a:ext cx="8078311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Core models</a:t>
            </a:r>
            <a:endParaRPr dirty="0"/>
          </a:p>
        </p:txBody>
      </p:sp>
      <p:sp>
        <p:nvSpPr>
          <p:cNvPr id="97" name="Google Shape;97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3200" b="1" dirty="0" err="1"/>
              <a:t>Subbytes</a:t>
            </a:r>
            <a:endParaRPr lang="en-US" sz="3200" b="1" dirty="0"/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endParaRPr lang="en-US" sz="3200" b="1" dirty="0"/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endParaRPr sz="3200" b="1" dirty="0"/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A194BD-7342-06CC-DB3A-60D8DB9C9D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233798"/>
            <a:ext cx="10115746" cy="32316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SubBytes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non-linear step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AES. In cryptography, non-linearity is vital because it creates "Confusion," making it extremely difficult for an attacker to use mathematical shortcuts (like linear cryptanalysis) to crack the code.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 panose="020B0604020202020204" charset="0"/>
              <a:cs typeface="Google Sans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cs typeface="Google Sans" panose="020B0604020202020204" charset="0"/>
              </a:rPr>
              <a:t>How it works mathematically: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SubBytes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treats each byte as an element in a finite field, specifically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Galois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Field$GF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(2^8)$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transformation happens in two steps: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Multiplicative Inverse: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It finds the multiplicative inverse of the byte in $GF(2^8)$. If the byte is $00_{16}$, it stays $00_{16}$.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Affine Transformation: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It applies a complex bitwise matrix multiplication and adds a constant ($63_{16}$).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e7f594cd50_0_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776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/>
              <a:t>SHIFTROWS</a:t>
            </a:r>
            <a:endParaRPr/>
          </a:p>
        </p:txBody>
      </p:sp>
      <p:sp>
        <p:nvSpPr>
          <p:cNvPr id="103" name="Google Shape;103;g3e7f594cd50_0_0"/>
          <p:cNvSpPr txBox="1">
            <a:spLocks noGrp="1"/>
          </p:cNvSpPr>
          <p:nvPr>
            <p:ph type="body" idx="1"/>
          </p:nvPr>
        </p:nvSpPr>
        <p:spPr>
          <a:xfrm>
            <a:off x="838200" y="1346950"/>
            <a:ext cx="10515600" cy="4830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In a 128-bit AES system, the data is treated as a $4 \times 4$ matrix of bytes. Each byte is 8 bits, totaling $16 \times 8 = 128$ bits.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The mapping of the 128-bit input () to the matrix in your code follows this pattern:</a:t>
            </a:r>
            <a:r>
              <a:rPr lang="en-US" sz="1500">
                <a:solidFill>
                  <a:srgbClr val="188038"/>
                </a:solidFill>
                <a:latin typeface="Arial"/>
                <a:ea typeface="Arial"/>
                <a:cs typeface="Arial"/>
                <a:sym typeface="Arial"/>
              </a:rPr>
              <a:t>data_in</a:t>
            </a:r>
            <a:endParaRPr sz="1500">
              <a:solidFill>
                <a:srgbClr val="188038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Char char="●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0: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$b_0, b_4, b_8, b_{12}$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1: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$b_1, b_5, b_9, b_{13}$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2: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$b_2, b_6, b_{10}, b_{14}$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3: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$b_3, b_7, b_{11}, b_{15}$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500">
                <a:latin typeface="Arial"/>
                <a:ea typeface="Arial"/>
                <a:cs typeface="Arial"/>
                <a:sym typeface="Arial"/>
              </a:rPr>
              <a:t>The goal of </a:t>
            </a: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ShiftRows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is to cyclically shift the last three rows of the state matrix to the left by different offsets.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700" b="1">
                <a:latin typeface="Arial"/>
                <a:ea typeface="Arial"/>
                <a:cs typeface="Arial"/>
                <a:sym typeface="Arial"/>
              </a:rPr>
              <a:t>How it works:</a:t>
            </a:r>
            <a:endParaRPr sz="17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AutoNum type="arabicPeriod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0: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No shift.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1: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Shift left by </a:t>
            </a: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1 byte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2: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Shift left by </a:t>
            </a: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2 bytes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Row 3: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 Shift left by </a:t>
            </a:r>
            <a:r>
              <a:rPr lang="en-US" sz="1500" b="1">
                <a:latin typeface="Arial"/>
                <a:ea typeface="Arial"/>
                <a:cs typeface="Arial"/>
                <a:sym typeface="Arial"/>
              </a:rPr>
              <a:t>3 bytes</a:t>
            </a:r>
            <a:r>
              <a:rPr lang="en-US" sz="1500"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>
            <a:spLocks noGrp="1"/>
          </p:cNvSpPr>
          <p:nvPr>
            <p:ph type="title"/>
          </p:nvPr>
        </p:nvSpPr>
        <p:spPr>
          <a:xfrm>
            <a:off x="715048" y="-3367"/>
            <a:ext cx="10515600" cy="817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Gf multiplier</a:t>
            </a:r>
            <a:endParaRPr/>
          </a:p>
        </p:txBody>
      </p:sp>
      <p:sp>
        <p:nvSpPr>
          <p:cNvPr id="109" name="Google Shape;109;p4"/>
          <p:cNvSpPr txBox="1">
            <a:spLocks noGrp="1"/>
          </p:cNvSpPr>
          <p:nvPr>
            <p:ph type="body" idx="1"/>
          </p:nvPr>
        </p:nvSpPr>
        <p:spPr>
          <a:xfrm>
            <a:off x="543791" y="973185"/>
            <a:ext cx="10684934" cy="584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In GF arithmetic: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numbers are treated like polynomials 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addition is XOR 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overflow is reduced using a special polynomial 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So multiplication behaves differently.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----------------------------------------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Flow: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Input a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   ↓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Check sel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   ↓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00 → multiply by 1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01 → multiply by 2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10 → multiply by 3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  ↓</a:t>
            </a:r>
            <a:endParaRPr sz="11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Output result</a:t>
            </a:r>
            <a:endParaRPr sz="11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--------------------------------------------------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What if the msb is 1?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AES uses a fixed polunomial reduction modulo which is: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-US" sz="1100"/>
              <a:t>x^8 + x^4 + x^3 + x + 1</a:t>
            </a:r>
            <a:endParaRPr sz="11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</a:pPr>
            <a:r>
              <a:rPr lang="en-US" sz="1100"/>
              <a:t>So when overflow happens, it is shifted and xor'd with 8'h1b.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Gf mixcoloumns single</a:t>
            </a:r>
            <a:endParaRPr/>
          </a:p>
        </p:txBody>
      </p:sp>
      <p:sp>
        <p:nvSpPr>
          <p:cNvPr id="115" name="Google Shape;11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In this operation, a single coloumn is taken and the follow equations are performed to get a new coloumn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b0 = mul2(a0) ^ mul3(a1) ^ a2 ^ a3;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b1 = a0 ^ mul2(a1) ^ mul3(a2) ^ a3;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b2 = a0 ^ a1 ^ mul2(a2) ^ mul3(a3);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assign b3 = mul3(a0) ^ a1 ^ a2 ^ mul2(a3);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 err="1"/>
              <a:t>mixcoloumn</a:t>
            </a:r>
            <a:endParaRPr dirty="0"/>
          </a:p>
        </p:txBody>
      </p:sp>
      <p:sp>
        <p:nvSpPr>
          <p:cNvPr id="121" name="Google Shape;12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In Advanced Encryption Standard, MixColumns is the step that mixes the bytes inside each column of the AES state matrix to create strong diffusion</a:t>
            </a:r>
            <a:endParaRPr/>
          </a:p>
        </p:txBody>
      </p:sp>
      <p:pic>
        <p:nvPicPr>
          <p:cNvPr id="122" name="Google Shape;122;p6" title="Screenshot 2026-05-12 14560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84250" y="3534550"/>
            <a:ext cx="5023502" cy="1934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09267-3CF8-C3D6-4C43-4803C69BB7B6}"/>
              </a:ext>
            </a:extLst>
          </p:cNvPr>
          <p:cNvSpPr txBox="1"/>
          <p:nvPr/>
        </p:nvSpPr>
        <p:spPr>
          <a:xfrm>
            <a:off x="678942" y="723936"/>
            <a:ext cx="63070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Inverse </a:t>
            </a:r>
            <a:r>
              <a:rPr lang="en-US" sz="3200" b="1" dirty="0" err="1"/>
              <a:t>mixcoloumn</a:t>
            </a:r>
            <a:endParaRPr lang="en-IN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197240-4EDB-3A44-CD3A-A9395D008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596" y="1810513"/>
            <a:ext cx="4100284" cy="40599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F671CD-E9C6-783E-E2BA-C93659101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42" y="2418388"/>
            <a:ext cx="5684883" cy="3086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530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Round Key Expansion</a:t>
            </a:r>
            <a:endParaRPr/>
          </a:p>
        </p:txBody>
      </p:sp>
      <p:sp>
        <p:nvSpPr>
          <p:cNvPr id="128" name="Google Shape;128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So in the beginning a master key is exored with the plain text, then the scrambled text is produced. All in 128 bits for round 0.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Then for all the remaining rounds, round key is derived from the master key.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In round 1-9 there is subybtes, shift rows, mix columns, add round key.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 In round 1-9, each round produces a round key that is exored with the curreent state.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 Then in round 10 again there is all this except mix columns. The output of the last exor is my cipher text.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The formula is: state(out)= state(in)^roundkey</a:t>
            </a:r>
            <a:endParaRPr sz="24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Formula for key expansion: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Rotword([b0, B1, B2, B3]) = [B1, B2, B3, B0]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2400"/>
              <a:t>Temp = rotword(w3) ^ rcon[round]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 txBox="1">
            <a:spLocks noGrp="1"/>
          </p:cNvSpPr>
          <p:nvPr>
            <p:ph type="title"/>
          </p:nvPr>
        </p:nvSpPr>
        <p:spPr>
          <a:xfrm>
            <a:off x="213095" y="655215"/>
            <a:ext cx="10515600" cy="589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dirty="0"/>
              <a:t>ROUND KEY EXPANSION</a:t>
            </a:r>
            <a:endParaRPr dirty="0"/>
          </a:p>
        </p:txBody>
      </p:sp>
      <p:sp>
        <p:nvSpPr>
          <p:cNvPr id="134" name="Google Shape;134;p8"/>
          <p:cNvSpPr/>
          <p:nvPr/>
        </p:nvSpPr>
        <p:spPr>
          <a:xfrm>
            <a:off x="5943600" y="32766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 txBox="1">
            <a:spLocks noGrp="1"/>
          </p:cNvSpPr>
          <p:nvPr>
            <p:ph type="body" idx="1"/>
          </p:nvPr>
        </p:nvSpPr>
        <p:spPr>
          <a:xfrm>
            <a:off x="0" y="1993063"/>
            <a:ext cx="12192001" cy="4016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b="1" dirty="0">
                <a:latin typeface="Google Sans"/>
                <a:ea typeface="Google Sans"/>
                <a:cs typeface="Google Sans"/>
                <a:sym typeface="Google Sans"/>
              </a:rPr>
              <a:t>  </a:t>
            </a:r>
            <a:r>
              <a:rPr lang="en-US" sz="2000" b="1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   Transformation Flow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 b="1" dirty="0"/>
              <a:t>      reg [31:0] temp;</a:t>
            </a:r>
            <a:r>
              <a:rPr lang="en-US" sz="1800" dirty="0"/>
              <a:t> </a:t>
            </a:r>
            <a:r>
              <a:rPr lang="en-US" sz="2000" dirty="0"/>
              <a:t>A temporary register used to hold intermediate calculations for the transformation.</a:t>
            </a:r>
            <a:endParaRPr sz="2000" b="0" i="0" u="none" strike="noStrike" cap="none" dirty="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1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AutoNum type="arabicPeriod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temp = 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rot_word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(w3) rotates the last word.</a:t>
            </a:r>
            <a:endParaRPr dirty="0"/>
          </a:p>
          <a:p>
            <a:pPr marL="457200" marR="0" lvl="1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AutoNum type="arabicPeriod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temp = temp ^ {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rcon_val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, 24'h0} performs a bitwise XOR between the rotated word and the round constant.</a:t>
            </a:r>
            <a:endParaRPr lang="en-US" dirty="0"/>
          </a:p>
          <a:p>
            <a:pPr marL="330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lang="en-US" sz="2000" b="1" dirty="0">
              <a:latin typeface="Google Sans"/>
              <a:ea typeface="Google Sans"/>
              <a:cs typeface="Google Sans"/>
              <a:sym typeface="Google Sans"/>
            </a:endParaRPr>
          </a:p>
          <a:p>
            <a:pPr marL="330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 Generation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: The new words are created by XORing the previous words with the transformed temporary word in a "chain" fashion:</a:t>
            </a:r>
            <a:endParaRPr dirty="0"/>
          </a:p>
          <a:p>
            <a:pPr marL="914400" marR="0" lvl="2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lang="en-US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</a:t>
            </a:r>
            <a:r>
              <a:rPr lang="en-US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[127:96] = w0 ^ temp.</a:t>
            </a:r>
            <a:endParaRPr dirty="0"/>
          </a:p>
          <a:p>
            <a:pPr marL="914400" marR="0" lvl="2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lang="en-US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</a:t>
            </a:r>
            <a:r>
              <a:rPr lang="en-US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[95:64] = w1 ^ </a:t>
            </a:r>
            <a:r>
              <a:rPr lang="en-US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</a:t>
            </a:r>
            <a:r>
              <a:rPr lang="en-US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[127:96].</a:t>
            </a:r>
            <a:endParaRPr dirty="0"/>
          </a:p>
          <a:p>
            <a:pPr marL="914400" marR="0" lvl="2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lang="en-US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</a:t>
            </a:r>
            <a:r>
              <a:rPr lang="en-US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[63:32] = w2 ^ </a:t>
            </a:r>
            <a:r>
              <a:rPr lang="en-US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</a:t>
            </a:r>
            <a:r>
              <a:rPr lang="en-US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[95:64].</a:t>
            </a:r>
            <a:endParaRPr dirty="0"/>
          </a:p>
          <a:p>
            <a:pPr marL="914400" marR="0" lvl="2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•"/>
            </a:pPr>
            <a:r>
              <a:rPr lang="en-US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</a:t>
            </a:r>
            <a:r>
              <a:rPr lang="en-US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[31:0] = w3 ^ </a:t>
            </a:r>
            <a:r>
              <a:rPr lang="en-US" b="0" i="0" u="none" strike="noStrike" cap="none" dirty="0" err="1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key_out</a:t>
            </a:r>
            <a:r>
              <a:rPr lang="en-US" b="0" i="0" u="none" strike="noStrike" cap="none" dirty="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[63:32]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Planning:</a:t>
            </a:r>
            <a:endParaRPr/>
          </a:p>
        </p:txBody>
      </p:sp>
      <p:sp>
        <p:nvSpPr>
          <p:cNvPr id="148" name="Google Shape;148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25000" lnSpcReduction="2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4800" dirty="0"/>
              <a:t>Alphin David k: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4800" dirty="0" err="1"/>
              <a:t>Mixcoloumns</a:t>
            </a:r>
            <a:r>
              <a:rPr lang="en-US" sz="4800" dirty="0"/>
              <a:t>, </a:t>
            </a:r>
            <a:r>
              <a:rPr lang="en-US" sz="4800" dirty="0" err="1"/>
              <a:t>mixcoloumns</a:t>
            </a:r>
            <a:r>
              <a:rPr lang="en-US" sz="4800" dirty="0"/>
              <a:t> single, leaf cell GF  multiplier, </a:t>
            </a:r>
            <a:r>
              <a:rPr lang="en-US" sz="4800" dirty="0" err="1"/>
              <a:t>invmixcol</a:t>
            </a:r>
            <a:r>
              <a:rPr lang="en-US" sz="4800" dirty="0"/>
              <a:t>, </a:t>
            </a:r>
            <a:r>
              <a:rPr lang="en-US" sz="4800" dirty="0" err="1"/>
              <a:t>invmixcol</a:t>
            </a:r>
            <a:r>
              <a:rPr lang="en-US" sz="4800" dirty="0"/>
              <a:t> single , block diagram, state matrix, 1 paper(</a:t>
            </a:r>
            <a:r>
              <a:rPr lang="en-US" sz="4800" dirty="0" err="1"/>
              <a:t>anniruden</a:t>
            </a:r>
            <a:r>
              <a:rPr lang="en-US" sz="4800" dirty="0"/>
              <a:t> bin </a:t>
            </a:r>
            <a:r>
              <a:rPr lang="en-US" sz="4800" dirty="0" err="1"/>
              <a:t>kasmin</a:t>
            </a:r>
            <a:r>
              <a:rPr lang="en-US" sz="4800" dirty="0"/>
              <a:t>), README(updates)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48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4800" dirty="0"/>
              <a:t>Ashton Rego: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4800" dirty="0" err="1"/>
              <a:t>Sbox,inversesbox</a:t>
            </a:r>
            <a:r>
              <a:rPr lang="en-US" sz="4800" dirty="0"/>
              <a:t>, throughput and resource usage of papers,1 paper(Arulmurugan </a:t>
            </a:r>
            <a:r>
              <a:rPr lang="en-US" sz="4800" dirty="0" err="1"/>
              <a:t>Azhaganantham</a:t>
            </a:r>
            <a:r>
              <a:rPr lang="en-US" sz="4800" dirty="0"/>
              <a:t>)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48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4800" dirty="0"/>
              <a:t>Cyrus </a:t>
            </a:r>
            <a:r>
              <a:rPr lang="en-US" sz="4800" dirty="0" err="1"/>
              <a:t>herold</a:t>
            </a:r>
            <a:r>
              <a:rPr lang="en-US" sz="4800" dirty="0"/>
              <a:t> </a:t>
            </a:r>
            <a:r>
              <a:rPr lang="en-US" sz="4800" dirty="0" err="1"/>
              <a:t>fernandes</a:t>
            </a:r>
            <a:r>
              <a:rPr lang="en-US" sz="4800" dirty="0"/>
              <a:t>:</a:t>
            </a:r>
            <a:endParaRPr sz="4800" dirty="0"/>
          </a:p>
          <a:p>
            <a:pPr marL="0" lvl="0" indent="0">
              <a:buSzPct val="100000"/>
              <a:buNone/>
            </a:pPr>
            <a:r>
              <a:rPr lang="en-US" sz="4800" dirty="0" err="1"/>
              <a:t>Shiftrows,inverse</a:t>
            </a:r>
            <a:r>
              <a:rPr lang="en-US" sz="4800" dirty="0"/>
              <a:t> </a:t>
            </a:r>
            <a:r>
              <a:rPr lang="en-US" sz="4800" dirty="0" err="1"/>
              <a:t>shiftrows,sbox</a:t>
            </a:r>
            <a:r>
              <a:rPr lang="en-US" sz="4800" dirty="0"/>
              <a:t> leaf </a:t>
            </a:r>
            <a:r>
              <a:rPr lang="en-US" sz="4800" dirty="0" err="1"/>
              <a:t>cellsimulation</a:t>
            </a:r>
            <a:r>
              <a:rPr lang="en-US" sz="4800" dirty="0"/>
              <a:t>, </a:t>
            </a:r>
            <a:r>
              <a:rPr lang="en-US" sz="4800" dirty="0" err="1"/>
              <a:t>subbytes</a:t>
            </a:r>
            <a:r>
              <a:rPr lang="en-US" sz="4800" dirty="0"/>
              <a:t>, </a:t>
            </a:r>
            <a:r>
              <a:rPr lang="en-US" sz="4800" dirty="0" err="1"/>
              <a:t>inversesubbytes</a:t>
            </a:r>
            <a:r>
              <a:rPr lang="en-US" sz="4800" dirty="0"/>
              <a:t>, 1 paper(R. Parthasarathy)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4800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4800" dirty="0"/>
              <a:t>Jawahar </a:t>
            </a:r>
            <a:r>
              <a:rPr lang="en-US" sz="4800" dirty="0" err="1"/>
              <a:t>lawrence</a:t>
            </a:r>
            <a:r>
              <a:rPr lang="en-US" sz="4800" dirty="0"/>
              <a:t> </a:t>
            </a:r>
            <a:r>
              <a:rPr lang="en-US" sz="4800" dirty="0" err="1"/>
              <a:t>rodrigues</a:t>
            </a:r>
            <a:r>
              <a:rPr lang="en-US" sz="4800" dirty="0"/>
              <a:t>: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4800" dirty="0"/>
              <a:t>Leaf cell </a:t>
            </a:r>
            <a:r>
              <a:rPr lang="en-US" sz="4800" dirty="0" err="1"/>
              <a:t>Addroundkey</a:t>
            </a:r>
            <a:r>
              <a:rPr lang="en-US" sz="4800" dirty="0"/>
              <a:t>(EXOR), </a:t>
            </a:r>
            <a:r>
              <a:rPr lang="en-US" sz="4800" dirty="0" err="1"/>
              <a:t>keyexpansion</a:t>
            </a:r>
            <a:r>
              <a:rPr lang="en-US" sz="4800" dirty="0"/>
              <a:t>, Architecture </a:t>
            </a:r>
            <a:r>
              <a:rPr lang="en-US" sz="4800"/>
              <a:t>diagram,README</a:t>
            </a:r>
            <a:r>
              <a:rPr lang="en-US" sz="4800" dirty="0"/>
              <a:t>(update),1 paper(SALMAN AHMED)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4800" dirty="0"/>
              <a:t>Everyone has uploaded their respective codes and testbenches along with simulation pictures present in </a:t>
            </a:r>
            <a:r>
              <a:rPr lang="en-US" sz="4800" dirty="0" err="1"/>
              <a:t>github</a:t>
            </a:r>
            <a:r>
              <a:rPr lang="en-US" sz="4800" dirty="0"/>
              <a:t>.</a:t>
            </a:r>
            <a:endParaRPr sz="4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b="1" dirty="0" err="1"/>
              <a:t>Github</a:t>
            </a:r>
            <a:r>
              <a:rPr lang="en-US" b="1" dirty="0"/>
              <a:t>: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/>
              <a:t>https://github.com/Alphin12345/AES_TP</a:t>
            </a:r>
            <a:endParaRPr dirty="0"/>
          </a:p>
          <a:p>
            <a:pPr marL="228600" lvl="0" indent="-15748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1079</Words>
  <Application>Microsoft Office PowerPoint</Application>
  <PresentationFormat>Widescreen</PresentationFormat>
  <Paragraphs>97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Calibri</vt:lpstr>
      <vt:lpstr>Google Sans Text</vt:lpstr>
      <vt:lpstr>Google Sans</vt:lpstr>
      <vt:lpstr>Aptos</vt:lpstr>
      <vt:lpstr>Arial</vt:lpstr>
      <vt:lpstr>Office Theme</vt:lpstr>
      <vt:lpstr>DEPARTMENT OF ELECTRONICS &amp; COMMUNICATION ENGINEERING ST JOSEPH ENGINEERING COLLEGE VAMANJOOR MANGALURU-575028  Course Title: Digital Design using HDL  Course Code: 22ECE42  Semester: Fourth Semester   PBL Secondary Research Report  FPGA Based-Advanced Encryption Standard (AES)</vt:lpstr>
      <vt:lpstr>What is AES? Advanced Encryption Standard AES is a method used to protect data by converting normal readable information into coded information using a secret key, so only authorized users can read it.</vt:lpstr>
      <vt:lpstr>Architecture </vt:lpstr>
      <vt:lpstr>Core models</vt:lpstr>
      <vt:lpstr>SHIFTROWS</vt:lpstr>
      <vt:lpstr>Gf multiplier</vt:lpstr>
      <vt:lpstr>Gf mixcoloumns single</vt:lpstr>
      <vt:lpstr>mixcoloumn</vt:lpstr>
      <vt:lpstr>PowerPoint Presentation</vt:lpstr>
      <vt:lpstr>Round Key Expansion</vt:lpstr>
      <vt:lpstr>ROUND KEY EXPANSION</vt:lpstr>
      <vt:lpstr>Planning: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Jawahar Rodrigues</dc:creator>
  <cp:lastModifiedBy>hachimanhiki777@gmail.com</cp:lastModifiedBy>
  <cp:revision>4</cp:revision>
  <dcterms:created xsi:type="dcterms:W3CDTF">2026-05-12T04:17:33Z</dcterms:created>
  <dcterms:modified xsi:type="dcterms:W3CDTF">2026-05-12T10:55:57Z</dcterms:modified>
</cp:coreProperties>
</file>